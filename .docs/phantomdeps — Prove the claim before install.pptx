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kumar Sharma" userId="7de66b904c68e1f7" providerId="LiveId" clId="{96F4274C-325E-4617-B06B-5F9835E7E481}"/>
    <pc:docChg chg="modSld">
      <pc:chgData name="Aditya kumar Sharma" userId="7de66b904c68e1f7" providerId="LiveId" clId="{96F4274C-325E-4617-B06B-5F9835E7E481}" dt="2026-09-27T14:12:17.674" v="12" actId="1076"/>
      <pc:docMkLst>
        <pc:docMk/>
      </pc:docMkLst>
      <pc:sldChg chg="addSp modSp mod">
        <pc:chgData name="Aditya kumar Sharma" userId="7de66b904c68e1f7" providerId="LiveId" clId="{96F4274C-325E-4617-B06B-5F9835E7E481}" dt="2026-09-27T14:12:17.674" v="12" actId="1076"/>
        <pc:sldMkLst>
          <pc:docMk/>
          <pc:sldMk cId="0" sldId="256"/>
        </pc:sldMkLst>
        <pc:spChg chg="add mod">
          <ac:chgData name="Aditya kumar Sharma" userId="7de66b904c68e1f7" providerId="LiveId" clId="{96F4274C-325E-4617-B06B-5F9835E7E481}" dt="2026-09-27T14:10:43.514" v="6" actId="207"/>
          <ac:spMkLst>
            <pc:docMk/>
            <pc:sldMk cId="0" sldId="256"/>
            <ac:spMk id="2" creationId="{F8CDF85D-9E76-535A-7283-AD2B3E5ED4D6}"/>
          </ac:spMkLst>
        </pc:spChg>
        <pc:spChg chg="add mod">
          <ac:chgData name="Aditya kumar Sharma" userId="7de66b904c68e1f7" providerId="LiveId" clId="{96F4274C-325E-4617-B06B-5F9835E7E481}" dt="2026-09-27T14:12:17.674" v="12" actId="1076"/>
          <ac:spMkLst>
            <pc:docMk/>
            <pc:sldMk cId="0" sldId="256"/>
            <ac:spMk id="10" creationId="{C26BE2A2-3740-E93D-6CEA-3DF257B756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16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PhantomDeps. In AI-assisted development, speed is a double-edged sword. Every time an agent like IBM Bob generates an import and proposes an install, it makes a technical claim. Today, we prove those claims before the environment is compromised.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 is focused on the 'fake package' problem. But the 19.7% hallucination rate from the 2025 USENIX study reveals a more surgical failure: real packages whose exported APIs simply don't match the AI-generated code. Traditional CI is too late—it tells you the build failed AFTER the irreversible install.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PhantomDeps moves the enforcement boundary from post-install detection to pre-install prevention. We intercept the agent exactly when it identifies a dependency, before npm ever touches the shell. This is the difference between firefighting an outage and preventing a collision.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build another assistant; we build a deterministic gate. Our L0–L3 pipeline verifies registry identity, validates artifact integrity, and uses static AST analysis on tarballs to verify symbol existence—all without executing a single line of untrusted package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proof. In this version-pinned fixture for is-odd, the AI claimed a symbol called 'isOddBatch'. Our gate identified the package, verified its hash, but blocked the install because that symbol does not exist in the 3.0.1 exports. Zero execution, absolute proof.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without a reason is friction. A block with a cited reason and a patch-only remediation plan is a workflow accelerator. We suggest the correct symbol, but we enforce human approval—ensuring Bob never auto-applies a fix without a developer's eyes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native to the IBM Bob workflow. Our PreToolUse hook intercepts commands automatically, and every decision is recorded in a tamper-evident, hash-chained audit log. We don't just provide a tool; we provide an honest, auditable enforcement boundary for the whole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ready. 205 tests passing, 100% recall on wrong-symbol detection in our corpus, and 0% false blocks. We've optimized the offline gate to run in just over a second, ensuring security never comes at the cost of developer velocity.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honest about our boundaries. This is a prototype focused on npm registry-name specs and static export declarations. The roadmap to production includes live symbol resolution for dynamic exports, enterprise provenance for private registries, and L4 sandboxed agents for intent validation.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PhantomDeps turns opaque AI dependency claims into reviewable, auditable assets. Our repository is public, our evidence is logged, and we are ready for the IBM Bob 2.0 Hackathon. Let's build what's next in AI-assisted development—starting with a foundation of trust.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1548073"/>
            <a:ext cx="8286750" cy="142875"/>
          </a:xfrm>
          <a:prstGeom prst="rect">
            <a:avLst/>
          </a:prstGeom>
          <a:noFill/>
          <a:ln/>
        </p:spPr>
        <p:txBody>
          <a:bodyPr wrap="none" lIns="0" tIns="0" rIns="0" bIns="0" rtlCol="0" anchor="t">
            <a:spAutoFit/>
          </a:bodyPr>
          <a:lstStyle/>
          <a:p>
            <a:pPr marL="0" indent="0" algn="l">
              <a:lnSpc>
                <a:spcPct val="114286"/>
              </a:lnSpc>
              <a:buNone/>
            </a:pPr>
            <a:r>
              <a:rPr lang="en-US" sz="700" b="1" kern="0" spc="1" dirty="0">
                <a:solidFill>
                  <a:srgbClr val="F4F4F4">
                    <a:alpha val="60000"/>
                  </a:srgbClr>
                </a:solidFill>
                <a:latin typeface="Inter SemiBold" pitchFamily="34" charset="0"/>
                <a:ea typeface="Inter SemiBold" pitchFamily="34" charset="-122"/>
                <a:cs typeface="Inter SemiBold" pitchFamily="34" charset="-120"/>
              </a:rPr>
              <a:t>IBM BOB HACKATHON 2.0</a:t>
            </a:r>
            <a:endParaRPr lang="en-US" sz="700" dirty="0"/>
          </a:p>
        </p:txBody>
      </p:sp>
      <p:sp>
        <p:nvSpPr>
          <p:cNvPr id="5" name="Text 1"/>
          <p:cNvSpPr/>
          <p:nvPr/>
        </p:nvSpPr>
        <p:spPr>
          <a:xfrm>
            <a:off x="428625" y="1805248"/>
            <a:ext cx="8286750" cy="540023"/>
          </a:xfrm>
          <a:prstGeom prst="rect">
            <a:avLst/>
          </a:prstGeom>
          <a:noFill/>
          <a:ln/>
        </p:spPr>
        <p:txBody>
          <a:bodyPr wrap="none" lIns="0" tIns="0" rIns="0" bIns="0" rtlCol="0" anchor="t">
            <a:spAutoFit/>
          </a:bodyPr>
          <a:lstStyle/>
          <a:p>
            <a:pPr marL="0" indent="0" algn="l">
              <a:lnSpc>
                <a:spcPct val="72000"/>
              </a:lnSpc>
              <a:buNone/>
            </a:pPr>
            <a:r>
              <a:rPr lang="en-US" sz="4650" kern="0" spc="-2" dirty="0">
                <a:solidFill>
                  <a:srgbClr val="F4F4F4"/>
                </a:solidFill>
                <a:latin typeface="IBM Plex Mono" pitchFamily="34" charset="0"/>
                <a:ea typeface="IBM Plex Mono" pitchFamily="34" charset="-122"/>
                <a:cs typeface="IBM Plex Mono" pitchFamily="34" charset="-120"/>
              </a:rPr>
              <a:t>phantom</a:t>
            </a:r>
            <a:r>
              <a:rPr lang="en-US" sz="4650" kern="0" spc="-2" dirty="0">
                <a:solidFill>
                  <a:srgbClr val="0F62FE"/>
                </a:solidFill>
                <a:latin typeface="IBM Plex Mono" pitchFamily="34" charset="0"/>
                <a:ea typeface="IBM Plex Mono" pitchFamily="34" charset="-122"/>
                <a:cs typeface="IBM Plex Mono" pitchFamily="34" charset="-120"/>
              </a:rPr>
              <a:t>deps</a:t>
            </a:r>
            <a:endParaRPr lang="en-US" sz="4650" dirty="0"/>
          </a:p>
        </p:txBody>
      </p:sp>
      <p:sp>
        <p:nvSpPr>
          <p:cNvPr id="6" name="Text 2"/>
          <p:cNvSpPr/>
          <p:nvPr/>
        </p:nvSpPr>
        <p:spPr>
          <a:xfrm>
            <a:off x="428625" y="2573871"/>
            <a:ext cx="4114800" cy="278606"/>
          </a:xfrm>
          <a:prstGeom prst="rect">
            <a:avLst/>
          </a:prstGeom>
          <a:noFill/>
          <a:ln/>
        </p:spPr>
        <p:txBody>
          <a:bodyPr wrap="none" lIns="0" tIns="0" rIns="0" bIns="0" rtlCol="0" anchor="t">
            <a:spAutoFit/>
          </a:bodyPr>
          <a:lstStyle/>
          <a:p>
            <a:pPr marL="0" indent="0" algn="l">
              <a:lnSpc>
                <a:spcPct val="130000"/>
              </a:lnSpc>
              <a:buNone/>
            </a:pPr>
            <a:r>
              <a:rPr lang="en-US" sz="1250" dirty="0">
                <a:solidFill>
                  <a:srgbClr val="F4F4F4"/>
                </a:solidFill>
                <a:latin typeface="Inter" pitchFamily="34" charset="0"/>
                <a:ea typeface="Inter" pitchFamily="34" charset="-122"/>
                <a:cs typeface="Inter" pitchFamily="34" charset="-120"/>
              </a:rPr>
              <a:t>Prove the dependency claim </a:t>
            </a:r>
            <a:r>
              <a:rPr lang="en-US" sz="1250" dirty="0">
                <a:solidFill>
                  <a:srgbClr val="0F62FE"/>
                </a:solidFill>
                <a:latin typeface="Inter" pitchFamily="34" charset="0"/>
                <a:ea typeface="Inter" pitchFamily="34" charset="-122"/>
                <a:cs typeface="Inter" pitchFamily="34" charset="-120"/>
              </a:rPr>
              <a:t>before</a:t>
            </a:r>
            <a:r>
              <a:rPr lang="en-US" sz="1250" dirty="0">
                <a:solidFill>
                  <a:srgbClr val="F4F4F4"/>
                </a:solidFill>
                <a:latin typeface="Inter" pitchFamily="34" charset="0"/>
                <a:ea typeface="Inter" pitchFamily="34" charset="-122"/>
                <a:cs typeface="Inter" pitchFamily="34" charset="-120"/>
              </a:rPr>
              <a:t> installation.</a:t>
            </a:r>
            <a:endParaRPr lang="en-US" sz="1250" dirty="0"/>
          </a:p>
        </p:txBody>
      </p:sp>
      <p:sp>
        <p:nvSpPr>
          <p:cNvPr id="7" name="Text 3"/>
          <p:cNvSpPr/>
          <p:nvPr/>
        </p:nvSpPr>
        <p:spPr>
          <a:xfrm>
            <a:off x="428625" y="2966777"/>
            <a:ext cx="4114800" cy="200025"/>
          </a:xfrm>
          <a:prstGeom prst="rect">
            <a:avLst/>
          </a:prstGeom>
          <a:noFill/>
          <a:ln/>
        </p:spPr>
        <p:txBody>
          <a:bodyPr wrap="none" lIns="0" tIns="0" rIns="0" bIns="0" rtlCol="0" anchor="t">
            <a:spAutoFit/>
          </a:bodyPr>
          <a:lstStyle/>
          <a:p>
            <a:pPr marL="0" indent="0" algn="l">
              <a:lnSpc>
                <a:spcPct val="124444"/>
              </a:lnSpc>
              <a:buNone/>
            </a:pPr>
            <a:r>
              <a:rPr lang="en-US" sz="950" dirty="0">
                <a:solidFill>
                  <a:srgbClr val="F4F4F4">
                    <a:alpha val="60000"/>
                  </a:srgbClr>
                </a:solidFill>
                <a:latin typeface="Inter" pitchFamily="34" charset="0"/>
                <a:ea typeface="Inter" pitchFamily="34" charset="-122"/>
                <a:cs typeface="Inter" pitchFamily="34" charset="-120"/>
              </a:rPr>
              <a:t>A deterministic security gate for AI-assisted development.</a:t>
            </a:r>
            <a:endParaRPr lang="en-US" sz="950" dirty="0"/>
          </a:p>
        </p:txBody>
      </p:sp>
      <p:sp>
        <p:nvSpPr>
          <p:cNvPr id="8" name="Text 4"/>
          <p:cNvSpPr/>
          <p:nvPr/>
        </p:nvSpPr>
        <p:spPr>
          <a:xfrm>
            <a:off x="428625" y="4872038"/>
            <a:ext cx="977298"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[SYS_STATE: SECURE]</a:t>
            </a:r>
            <a:endParaRPr lang="en-US" sz="600" dirty="0"/>
          </a:p>
        </p:txBody>
      </p:sp>
      <p:sp>
        <p:nvSpPr>
          <p:cNvPr id="9" name="Text 5"/>
          <p:cNvSpPr/>
          <p:nvPr/>
        </p:nvSpPr>
        <p:spPr>
          <a:xfrm>
            <a:off x="7069410" y="4872038"/>
            <a:ext cx="1645965"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PROJECT: PHANTOMDEPS / PHASE: 14</a:t>
            </a:r>
            <a:endParaRPr lang="en-US" sz="600" dirty="0"/>
          </a:p>
        </p:txBody>
      </p:sp>
      <p:sp>
        <p:nvSpPr>
          <p:cNvPr id="2" name="Text 3">
            <a:extLst>
              <a:ext uri="{FF2B5EF4-FFF2-40B4-BE49-F238E27FC236}">
                <a16:creationId xmlns:a16="http://schemas.microsoft.com/office/drawing/2014/main" id="{F8CDF85D-9E76-535A-7283-AD2B3E5ED4D6}"/>
              </a:ext>
            </a:extLst>
          </p:cNvPr>
          <p:cNvSpPr/>
          <p:nvPr/>
        </p:nvSpPr>
        <p:spPr>
          <a:xfrm>
            <a:off x="428625" y="4050507"/>
            <a:ext cx="3871253" cy="307777"/>
          </a:xfrm>
          <a:prstGeom prst="rect">
            <a:avLst/>
          </a:prstGeom>
          <a:noFill/>
          <a:ln/>
        </p:spPr>
        <p:txBody>
          <a:bodyPr wrap="none" lIns="0" tIns="0" rIns="0" bIns="0" rtlCol="0" anchor="t">
            <a:spAutoFit/>
          </a:bodyPr>
          <a:lstStyle/>
          <a:p>
            <a:r>
              <a:rPr lang="en-IN" sz="1000" dirty="0">
                <a:solidFill>
                  <a:schemeClr val="tx1">
                    <a:lumMod val="65000"/>
                    <a:lumOff val="35000"/>
                  </a:schemeClr>
                </a:solidFill>
              </a:rPr>
              <a:t>github.com/</a:t>
            </a:r>
            <a:r>
              <a:rPr lang="en-IN" sz="1000" dirty="0" err="1">
                <a:solidFill>
                  <a:schemeClr val="tx1">
                    <a:lumMod val="65000"/>
                    <a:lumOff val="35000"/>
                  </a:schemeClr>
                </a:solidFill>
              </a:rPr>
              <a:t>adishxm</a:t>
            </a:r>
            <a:r>
              <a:rPr lang="en-IN" sz="1000" dirty="0">
                <a:solidFill>
                  <a:schemeClr val="tx1">
                    <a:lumMod val="65000"/>
                    <a:lumOff val="35000"/>
                  </a:schemeClr>
                </a:solidFill>
              </a:rPr>
              <a:t>/</a:t>
            </a:r>
            <a:r>
              <a:rPr lang="en-IN" sz="1000" dirty="0" err="1">
                <a:solidFill>
                  <a:schemeClr val="tx1">
                    <a:lumMod val="65000"/>
                    <a:lumOff val="35000"/>
                  </a:schemeClr>
                </a:solidFill>
              </a:rPr>
              <a:t>phantomdeps</a:t>
            </a:r>
            <a:r>
              <a:rPr lang="en-IN" sz="1000" dirty="0">
                <a:solidFill>
                  <a:schemeClr val="tx1">
                    <a:lumMod val="65000"/>
                    <a:lumOff val="35000"/>
                  </a:schemeClr>
                </a:solidFill>
              </a:rPr>
              <a:t> </a:t>
            </a:r>
          </a:p>
          <a:p>
            <a:r>
              <a:rPr lang="en-IN" sz="1000" dirty="0">
                <a:solidFill>
                  <a:schemeClr val="tx1">
                    <a:lumMod val="65000"/>
                    <a:lumOff val="35000"/>
                  </a:schemeClr>
                </a:solidFill>
              </a:rPr>
              <a:t>Aditya Kumar Sharma · Narayan Kumar Jha · Utkarsh Yadav · Roshan Singh </a:t>
            </a:r>
            <a:endParaRPr lang="en-US" sz="950" dirty="0">
              <a:solidFill>
                <a:schemeClr val="tx1">
                  <a:lumMod val="65000"/>
                  <a:lumOff val="35000"/>
                </a:schemeClr>
              </a:solidFill>
            </a:endParaRPr>
          </a:p>
        </p:txBody>
      </p:sp>
      <p:sp>
        <p:nvSpPr>
          <p:cNvPr id="10" name="Text 3">
            <a:extLst>
              <a:ext uri="{FF2B5EF4-FFF2-40B4-BE49-F238E27FC236}">
                <a16:creationId xmlns:a16="http://schemas.microsoft.com/office/drawing/2014/main" id="{C26BE2A2-3740-E93D-6CEA-3DF257B756C1}"/>
              </a:ext>
            </a:extLst>
          </p:cNvPr>
          <p:cNvSpPr/>
          <p:nvPr/>
        </p:nvSpPr>
        <p:spPr>
          <a:xfrm>
            <a:off x="6637883" y="4050506"/>
            <a:ext cx="2077492" cy="307777"/>
          </a:xfrm>
          <a:prstGeom prst="rect">
            <a:avLst/>
          </a:prstGeom>
          <a:noFill/>
          <a:ln/>
        </p:spPr>
        <p:txBody>
          <a:bodyPr wrap="none" lIns="0" tIns="0" rIns="0" bIns="0" rtlCol="0" anchor="t">
            <a:spAutoFit/>
          </a:bodyPr>
          <a:lstStyle/>
          <a:p>
            <a:r>
              <a:rPr lang="en-IN" sz="1000" dirty="0">
                <a:solidFill>
                  <a:schemeClr val="tx1">
                    <a:lumMod val="65000"/>
                    <a:lumOff val="35000"/>
                  </a:schemeClr>
                </a:solidFill>
              </a:rPr>
              <a:t>205/205 TESTS · 12/12 CORPUS · v0.1.0 </a:t>
            </a:r>
          </a:p>
          <a:p>
            <a:r>
              <a:rPr lang="en-IN" sz="1000" dirty="0">
                <a:solidFill>
                  <a:schemeClr val="tx1">
                    <a:lumMod val="65000"/>
                    <a:lumOff val="35000"/>
                  </a:schemeClr>
                </a:solidFill>
              </a:rPr>
              <a:t>MIT · TypeScript · Node ≥ 20</a:t>
            </a:r>
            <a:endParaRPr lang="en-US" sz="950" dirty="0">
              <a:solidFill>
                <a:schemeClr val="tx1">
                  <a:lumMod val="65000"/>
                  <a:lumOff val="3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342900"/>
          </a:xfrm>
          <a:prstGeom prst="rect">
            <a:avLst/>
          </a:prstGeom>
          <a:noFill/>
          <a:ln/>
        </p:spPr>
        <p:txBody>
          <a:bodyPr wrap="none" lIns="0" tIns="0" rIns="0" bIns="0" rtlCol="0" anchor="t">
            <a:spAutoFit/>
          </a:bodyPr>
          <a:lstStyle/>
          <a:p>
            <a:pPr marL="0" indent="0" algn="l">
              <a:lnSpc>
                <a:spcPct val="120000"/>
              </a:lnSpc>
              <a:buNone/>
            </a:pPr>
            <a:r>
              <a:rPr lang="en-US" sz="1600" b="1" dirty="0">
                <a:solidFill>
                  <a:srgbClr val="F4F4F4"/>
                </a:solidFill>
                <a:latin typeface="IBM Plex Sans SemiBold" pitchFamily="34" charset="0"/>
                <a:ea typeface="IBM Plex Sans SemiBold" pitchFamily="34" charset="-122"/>
                <a:cs typeface="IBM Plex Sans SemiBold" pitchFamily="34" charset="-120"/>
              </a:rPr>
              <a:t>The dangerous gap is not the package name</a:t>
            </a:r>
            <a:endParaRPr lang="en-US" sz="1600" dirty="0"/>
          </a:p>
        </p:txBody>
      </p:sp>
      <p:sp>
        <p:nvSpPr>
          <p:cNvPr id="5" name="Shape 1"/>
          <p:cNvSpPr/>
          <p:nvPr/>
        </p:nvSpPr>
        <p:spPr>
          <a:xfrm>
            <a:off x="428625" y="1057275"/>
            <a:ext cx="3929063" cy="1200150"/>
          </a:xfrm>
          <a:prstGeom prst="rect">
            <a:avLst/>
          </a:prstGeom>
          <a:solidFill>
            <a:srgbClr val="262626"/>
          </a:solidFill>
          <a:ln w="9144">
            <a:solidFill>
              <a:srgbClr val="393939"/>
            </a:solidFill>
            <a:prstDash val="solid"/>
          </a:ln>
        </p:spPr>
      </p:sp>
      <p:sp>
        <p:nvSpPr>
          <p:cNvPr id="6" name="Text 2"/>
          <p:cNvSpPr/>
          <p:nvPr/>
        </p:nvSpPr>
        <p:spPr>
          <a:xfrm>
            <a:off x="600075" y="1228725"/>
            <a:ext cx="3586163" cy="114300"/>
          </a:xfrm>
          <a:prstGeom prst="rect">
            <a:avLst/>
          </a:prstGeom>
          <a:noFill/>
          <a:ln/>
        </p:spPr>
        <p:txBody>
          <a:bodyPr wrap="none" lIns="0" tIns="0" rIns="0" bIns="0" rtlCol="0" anchor="t">
            <a:spAutoFit/>
          </a:bodyPr>
          <a:lstStyle/>
          <a:p>
            <a:pPr marL="0" indent="0" algn="l">
              <a:lnSpc>
                <a:spcPct val="106667"/>
              </a:lnSpc>
              <a:buNone/>
            </a:pPr>
            <a:r>
              <a:rPr lang="en-US" sz="600" dirty="0">
                <a:solidFill>
                  <a:srgbClr val="F4F4F4">
                    <a:alpha val="50000"/>
                  </a:srgbClr>
                </a:solidFill>
                <a:latin typeface="IBM Plex Mono" pitchFamily="34" charset="0"/>
                <a:ea typeface="IBM Plex Mono" pitchFamily="34" charset="-122"/>
                <a:cs typeface="IBM Plex Mono" pitchFamily="34" charset="-120"/>
              </a:rPr>
              <a:t>// AI Agent generates:</a:t>
            </a:r>
            <a:endParaRPr lang="en-US" sz="600" dirty="0"/>
          </a:p>
        </p:txBody>
      </p:sp>
      <p:sp>
        <p:nvSpPr>
          <p:cNvPr id="7" name="Text 3"/>
          <p:cNvSpPr/>
          <p:nvPr/>
        </p:nvSpPr>
        <p:spPr>
          <a:xfrm>
            <a:off x="600075" y="1400175"/>
            <a:ext cx="35861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F4F4F4"/>
                </a:solidFill>
                <a:latin typeface="IBM Plex Mono" pitchFamily="34" charset="0"/>
                <a:ea typeface="IBM Plex Mono" pitchFamily="34" charset="-122"/>
                <a:cs typeface="IBM Plex Mono" pitchFamily="34" charset="-120"/>
              </a:rPr>
              <a:t>import { </a:t>
            </a:r>
            <a:r>
              <a:rPr lang="en-US" sz="950" dirty="0">
                <a:solidFill>
                  <a:srgbClr val="DA1E28"/>
                </a:solidFill>
                <a:latin typeface="IBM Plex Mono" pitchFamily="34" charset="0"/>
                <a:ea typeface="IBM Plex Mono" pitchFamily="34" charset="-122"/>
                <a:cs typeface="IBM Plex Mono" pitchFamily="34" charset="-120"/>
              </a:rPr>
              <a:t>isOddBatch</a:t>
            </a:r>
            <a:r>
              <a:rPr lang="en-US" sz="950" dirty="0">
                <a:solidFill>
                  <a:srgbClr val="F4F4F4"/>
                </a:solidFill>
                <a:latin typeface="IBM Plex Mono" pitchFamily="34" charset="0"/>
                <a:ea typeface="IBM Plex Mono" pitchFamily="34" charset="-122"/>
                <a:cs typeface="IBM Plex Mono" pitchFamily="34" charset="-120"/>
              </a:rPr>
              <a:t> } from 'is-odd';</a:t>
            </a:r>
            <a:endParaRPr lang="en-US" sz="950" dirty="0"/>
          </a:p>
        </p:txBody>
      </p:sp>
      <p:sp>
        <p:nvSpPr>
          <p:cNvPr id="8" name="Text 4"/>
          <p:cNvSpPr/>
          <p:nvPr/>
        </p:nvSpPr>
        <p:spPr>
          <a:xfrm>
            <a:off x="600075" y="1707356"/>
            <a:ext cx="3586163" cy="114300"/>
          </a:xfrm>
          <a:prstGeom prst="rect">
            <a:avLst/>
          </a:prstGeom>
          <a:noFill/>
          <a:ln/>
        </p:spPr>
        <p:txBody>
          <a:bodyPr wrap="none" lIns="0" tIns="0" rIns="0" bIns="0" rtlCol="0" anchor="t">
            <a:spAutoFit/>
          </a:bodyPr>
          <a:lstStyle/>
          <a:p>
            <a:pPr marL="0" indent="0" algn="l">
              <a:lnSpc>
                <a:spcPct val="106667"/>
              </a:lnSpc>
              <a:buNone/>
            </a:pPr>
            <a:r>
              <a:rPr lang="en-US" sz="600" dirty="0">
                <a:solidFill>
                  <a:srgbClr val="F4F4F4">
                    <a:alpha val="50000"/>
                  </a:srgbClr>
                </a:solidFill>
                <a:latin typeface="IBM Plex Mono" pitchFamily="34" charset="0"/>
                <a:ea typeface="IBM Plex Mono" pitchFamily="34" charset="-122"/>
                <a:cs typeface="IBM Plex Mono" pitchFamily="34" charset="-120"/>
              </a:rPr>
              <a:t>// Tool invocation:</a:t>
            </a:r>
            <a:endParaRPr lang="en-US" sz="600" dirty="0"/>
          </a:p>
        </p:txBody>
      </p:sp>
      <p:sp>
        <p:nvSpPr>
          <p:cNvPr id="9" name="Text 5"/>
          <p:cNvSpPr/>
          <p:nvPr/>
        </p:nvSpPr>
        <p:spPr>
          <a:xfrm>
            <a:off x="600075" y="1878806"/>
            <a:ext cx="35861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FFFFFF"/>
                </a:solidFill>
                <a:latin typeface="IBM Plex Mono" pitchFamily="34" charset="0"/>
                <a:ea typeface="IBM Plex Mono" pitchFamily="34" charset="-122"/>
                <a:cs typeface="IBM Plex Mono" pitchFamily="34" charset="-120"/>
              </a:rPr>
              <a:t>npm install </a:t>
            </a:r>
            <a:r>
              <a:rPr lang="en-US" sz="950" dirty="0">
                <a:solidFill>
                  <a:srgbClr val="0F62FE"/>
                </a:solidFill>
                <a:latin typeface="IBM Plex Mono" pitchFamily="34" charset="0"/>
                <a:ea typeface="IBM Plex Mono" pitchFamily="34" charset="-122"/>
                <a:cs typeface="IBM Plex Mono" pitchFamily="34" charset="-120"/>
              </a:rPr>
              <a:t>is-odd</a:t>
            </a:r>
            <a:endParaRPr lang="en-US" sz="950" dirty="0"/>
          </a:p>
        </p:txBody>
      </p:sp>
      <p:sp>
        <p:nvSpPr>
          <p:cNvPr id="10" name="Text 6"/>
          <p:cNvSpPr/>
          <p:nvPr/>
        </p:nvSpPr>
        <p:spPr>
          <a:xfrm>
            <a:off x="428625" y="2528888"/>
            <a:ext cx="3929063" cy="464344"/>
          </a:xfrm>
          <a:prstGeom prst="rect">
            <a:avLst/>
          </a:prstGeom>
          <a:noFill/>
          <a:ln/>
        </p:spPr>
        <p:txBody>
          <a:bodyPr wrap="square" lIns="0" tIns="0" rIns="0" bIns="0" rtlCol="0" anchor="t">
            <a:spAutoFit/>
          </a:bodyPr>
          <a:lstStyle/>
          <a:p>
            <a:pPr marL="0" indent="0" algn="l">
              <a:lnSpc>
                <a:spcPct val="130000"/>
              </a:lnSpc>
              <a:buNone/>
            </a:pPr>
            <a:r>
              <a:rPr lang="en-US" sz="1050" dirty="0">
                <a:solidFill>
                  <a:srgbClr val="F4F4F4"/>
                </a:solidFill>
                <a:latin typeface="Inter" pitchFamily="34" charset="0"/>
                <a:ea typeface="Inter" pitchFamily="34" charset="-122"/>
                <a:cs typeface="Inter" pitchFamily="34" charset="-120"/>
              </a:rPr>
              <a:t>AI coding agents hallucinate package names </a:t>
            </a:r>
            <a:r>
              <a:rPr lang="en-US" sz="1050" dirty="0">
                <a:solidFill>
                  <a:srgbClr val="0F62FE"/>
                </a:solidFill>
                <a:latin typeface="Inter" pitchFamily="34" charset="0"/>
                <a:ea typeface="Inter" pitchFamily="34" charset="-122"/>
                <a:cs typeface="Inter" pitchFamily="34" charset="-120"/>
              </a:rPr>
              <a:t>and</a:t>
            </a:r>
            <a:r>
              <a:rPr lang="en-US" sz="1050" dirty="0">
                <a:solidFill>
                  <a:srgbClr val="F4F4F4"/>
                </a:solidFill>
                <a:latin typeface="Inter" pitchFamily="34" charset="0"/>
                <a:ea typeface="Inter" pitchFamily="34" charset="-122"/>
                <a:cs typeface="Inter" pitchFamily="34" charset="-120"/>
              </a:rPr>
              <a:t> symbols.</a:t>
            </a:r>
            <a:endParaRPr lang="en-US" sz="1050" dirty="0"/>
          </a:p>
        </p:txBody>
      </p:sp>
      <p:sp>
        <p:nvSpPr>
          <p:cNvPr id="11" name="Text 7"/>
          <p:cNvSpPr/>
          <p:nvPr/>
        </p:nvSpPr>
        <p:spPr>
          <a:xfrm>
            <a:off x="428625" y="3193256"/>
            <a:ext cx="128588" cy="200025"/>
          </a:xfrm>
          <a:prstGeom prst="rect">
            <a:avLst/>
          </a:prstGeom>
          <a:noFill/>
          <a:ln/>
        </p:spPr>
        <p:txBody>
          <a:bodyPr wrap="none" lIns="0" tIns="0" rIns="0" bIns="0" rtlCol="0" anchor="t">
            <a:spAutoFit/>
          </a:bodyPr>
          <a:lstStyle/>
          <a:p>
            <a:pPr marL="0" indent="0" algn="l">
              <a:lnSpc>
                <a:spcPct val="124444"/>
              </a:lnSpc>
              <a:buNone/>
            </a:pPr>
            <a:r>
              <a:rPr lang="en-US" sz="950" dirty="0">
                <a:solidFill>
                  <a:srgbClr val="0F62FE"/>
                </a:solidFill>
                <a:latin typeface="Inter" pitchFamily="34" charset="0"/>
                <a:ea typeface="Inter" pitchFamily="34" charset="-122"/>
                <a:cs typeface="Inter" pitchFamily="34" charset="-120"/>
              </a:rPr>
              <a:t>→</a:t>
            </a:r>
            <a:endParaRPr lang="en-US" sz="950" dirty="0"/>
          </a:p>
        </p:txBody>
      </p:sp>
      <p:sp>
        <p:nvSpPr>
          <p:cNvPr id="12" name="Text 8"/>
          <p:cNvSpPr/>
          <p:nvPr/>
        </p:nvSpPr>
        <p:spPr>
          <a:xfrm>
            <a:off x="642938" y="3164681"/>
            <a:ext cx="3436144" cy="200025"/>
          </a:xfrm>
          <a:prstGeom prst="rect">
            <a:avLst/>
          </a:prstGeom>
          <a:noFill/>
          <a:ln/>
        </p:spPr>
        <p:txBody>
          <a:bodyPr wrap="none" lIns="0" tIns="0" rIns="0" bIns="0" rtlCol="0" anchor="t">
            <a:spAutoFit/>
          </a:bodyPr>
          <a:lstStyle/>
          <a:p>
            <a:pPr marL="0" indent="0" algn="l">
              <a:lnSpc>
                <a:spcPct val="124444"/>
              </a:lnSpc>
              <a:buNone/>
            </a:pPr>
            <a:r>
              <a:rPr lang="en-US" sz="900" b="1" dirty="0">
                <a:solidFill>
                  <a:srgbClr val="FFFFFF"/>
                </a:solidFill>
                <a:latin typeface="Inter SemiBold" pitchFamily="34" charset="0"/>
                <a:ea typeface="Inter SemiBold" pitchFamily="34" charset="-122"/>
                <a:cs typeface="Inter SemiBold" pitchFamily="34" charset="-120"/>
              </a:rPr>
              <a:t>Name-existence</a:t>
            </a:r>
            <a:r>
              <a:rPr lang="en-US" sz="950" dirty="0">
                <a:solidFill>
                  <a:srgbClr val="F4F4F4"/>
                </a:solidFill>
                <a:latin typeface="Inter" pitchFamily="34" charset="0"/>
                <a:ea typeface="Inter" pitchFamily="34" charset="-122"/>
                <a:cs typeface="Inter" pitchFamily="34" charset="-120"/>
              </a:rPr>
              <a:t> checks see 'is-odd' and return </a:t>
            </a:r>
            <a:r>
              <a:rPr lang="en-US" sz="950" dirty="0">
                <a:solidFill>
                  <a:srgbClr val="22C55E"/>
                </a:solidFill>
                <a:latin typeface="Inter" pitchFamily="34" charset="0"/>
                <a:ea typeface="Inter" pitchFamily="34" charset="-122"/>
                <a:cs typeface="Inter" pitchFamily="34" charset="-120"/>
              </a:rPr>
              <a:t>ALLOW</a:t>
            </a:r>
            <a:r>
              <a:rPr lang="en-US" sz="950" dirty="0">
                <a:solidFill>
                  <a:srgbClr val="F4F4F4"/>
                </a:solidFill>
                <a:latin typeface="Inter" pitchFamily="34" charset="0"/>
                <a:ea typeface="Inter" pitchFamily="34" charset="-122"/>
                <a:cs typeface="Inter" pitchFamily="34" charset="-120"/>
              </a:rPr>
              <a:t>.</a:t>
            </a:r>
            <a:endParaRPr lang="en-US" sz="900" dirty="0"/>
          </a:p>
        </p:txBody>
      </p:sp>
      <p:sp>
        <p:nvSpPr>
          <p:cNvPr id="13" name="Text 9"/>
          <p:cNvSpPr/>
          <p:nvPr/>
        </p:nvSpPr>
        <p:spPr>
          <a:xfrm>
            <a:off x="428625" y="3536156"/>
            <a:ext cx="128588" cy="200025"/>
          </a:xfrm>
          <a:prstGeom prst="rect">
            <a:avLst/>
          </a:prstGeom>
          <a:noFill/>
          <a:ln/>
        </p:spPr>
        <p:txBody>
          <a:bodyPr wrap="none" lIns="0" tIns="0" rIns="0" bIns="0" rtlCol="0" anchor="t">
            <a:spAutoFit/>
          </a:bodyPr>
          <a:lstStyle/>
          <a:p>
            <a:pPr marL="0" indent="0" algn="l">
              <a:lnSpc>
                <a:spcPct val="124444"/>
              </a:lnSpc>
              <a:buNone/>
            </a:pPr>
            <a:r>
              <a:rPr lang="en-US" sz="950" dirty="0">
                <a:solidFill>
                  <a:srgbClr val="0F62FE"/>
                </a:solidFill>
                <a:latin typeface="Inter" pitchFamily="34" charset="0"/>
                <a:ea typeface="Inter" pitchFamily="34" charset="-122"/>
                <a:cs typeface="Inter" pitchFamily="34" charset="-120"/>
              </a:rPr>
              <a:t>→</a:t>
            </a:r>
            <a:endParaRPr lang="en-US" sz="950" dirty="0"/>
          </a:p>
        </p:txBody>
      </p:sp>
      <p:sp>
        <p:nvSpPr>
          <p:cNvPr id="14" name="Text 10"/>
          <p:cNvSpPr/>
          <p:nvPr/>
        </p:nvSpPr>
        <p:spPr>
          <a:xfrm>
            <a:off x="642938" y="3507581"/>
            <a:ext cx="3714750" cy="400050"/>
          </a:xfrm>
          <a:prstGeom prst="rect">
            <a:avLst/>
          </a:prstGeom>
          <a:noFill/>
          <a:ln/>
        </p:spPr>
        <p:txBody>
          <a:bodyPr wrap="square" lIns="0" tIns="0" rIns="0" bIns="0" rtlCol="0" anchor="t">
            <a:spAutoFit/>
          </a:bodyPr>
          <a:lstStyle/>
          <a:p>
            <a:pPr marL="0" indent="0" algn="l">
              <a:lnSpc>
                <a:spcPct val="124444"/>
              </a:lnSpc>
              <a:buNone/>
            </a:pPr>
            <a:r>
              <a:rPr lang="en-US" sz="950" dirty="0">
                <a:solidFill>
                  <a:srgbClr val="F4F4F4"/>
                </a:solidFill>
                <a:latin typeface="Inter" pitchFamily="34" charset="0"/>
                <a:ea typeface="Inter" pitchFamily="34" charset="-122"/>
                <a:cs typeface="Inter" pitchFamily="34" charset="-120"/>
              </a:rPr>
              <a:t>The </a:t>
            </a:r>
            <a:r>
              <a:rPr lang="en-US" sz="900" b="1" dirty="0">
                <a:solidFill>
                  <a:srgbClr val="FFFFFF"/>
                </a:solidFill>
                <a:latin typeface="Inter SemiBold" pitchFamily="34" charset="0"/>
                <a:ea typeface="Inter SemiBold" pitchFamily="34" charset="-122"/>
                <a:cs typeface="Inter SemiBold" pitchFamily="34" charset="-120"/>
              </a:rPr>
              <a:t>symbol 'isOddBatch'</a:t>
            </a:r>
            <a:r>
              <a:rPr lang="en-US" sz="950" dirty="0">
                <a:solidFill>
                  <a:srgbClr val="F4F4F4"/>
                </a:solidFill>
                <a:latin typeface="Inter" pitchFamily="34" charset="0"/>
                <a:ea typeface="Inter" pitchFamily="34" charset="-122"/>
                <a:cs typeface="Inter" pitchFamily="34" charset="-120"/>
              </a:rPr>
              <a:t> does not exist in the package exports.</a:t>
            </a:r>
            <a:endParaRPr lang="en-US" sz="950" dirty="0"/>
          </a:p>
        </p:txBody>
      </p:sp>
      <p:sp>
        <p:nvSpPr>
          <p:cNvPr id="15" name="Text 11"/>
          <p:cNvSpPr/>
          <p:nvPr/>
        </p:nvSpPr>
        <p:spPr>
          <a:xfrm>
            <a:off x="428625" y="4050506"/>
            <a:ext cx="85725" cy="200025"/>
          </a:xfrm>
          <a:prstGeom prst="rect">
            <a:avLst/>
          </a:prstGeom>
          <a:noFill/>
          <a:ln/>
        </p:spPr>
        <p:txBody>
          <a:bodyPr wrap="none" lIns="0" tIns="0" rIns="0" bIns="0" rtlCol="0" anchor="t">
            <a:spAutoFit/>
          </a:bodyPr>
          <a:lstStyle/>
          <a:p>
            <a:pPr marL="0" indent="0" algn="l">
              <a:lnSpc>
                <a:spcPct val="124444"/>
              </a:lnSpc>
              <a:buNone/>
            </a:pPr>
            <a:r>
              <a:rPr lang="en-US" sz="950" dirty="0">
                <a:solidFill>
                  <a:srgbClr val="DA1E28"/>
                </a:solidFill>
                <a:latin typeface="Inter" pitchFamily="34" charset="0"/>
                <a:ea typeface="Inter" pitchFamily="34" charset="-122"/>
                <a:cs typeface="Inter" pitchFamily="34" charset="-120"/>
              </a:rPr>
              <a:t>×</a:t>
            </a:r>
            <a:endParaRPr lang="en-US" sz="950" dirty="0"/>
          </a:p>
        </p:txBody>
      </p:sp>
      <p:sp>
        <p:nvSpPr>
          <p:cNvPr id="16" name="Text 12"/>
          <p:cNvSpPr/>
          <p:nvPr/>
        </p:nvSpPr>
        <p:spPr>
          <a:xfrm>
            <a:off x="600075" y="4021931"/>
            <a:ext cx="2546747" cy="200025"/>
          </a:xfrm>
          <a:prstGeom prst="rect">
            <a:avLst/>
          </a:prstGeom>
          <a:noFill/>
          <a:ln/>
        </p:spPr>
        <p:txBody>
          <a:bodyPr wrap="none" lIns="0" tIns="0" rIns="0" bIns="0" rtlCol="0" anchor="t">
            <a:spAutoFit/>
          </a:bodyPr>
          <a:lstStyle/>
          <a:p>
            <a:pPr marL="0" indent="0" algn="l">
              <a:lnSpc>
                <a:spcPct val="124444"/>
              </a:lnSpc>
              <a:buNone/>
            </a:pPr>
            <a:r>
              <a:rPr lang="en-US" sz="950" dirty="0">
                <a:solidFill>
                  <a:srgbClr val="FFFFFF"/>
                </a:solidFill>
                <a:latin typeface="Inter" pitchFamily="34" charset="0"/>
                <a:ea typeface="Inter" pitchFamily="34" charset="-122"/>
                <a:cs typeface="Inter" pitchFamily="34" charset="-120"/>
              </a:rPr>
              <a:t>The build fails </a:t>
            </a:r>
            <a:r>
              <a:rPr lang="en-US" sz="900" b="1" dirty="0">
                <a:solidFill>
                  <a:srgbClr val="DA1E28"/>
                </a:solidFill>
                <a:latin typeface="Inter SemiBold" pitchFamily="34" charset="0"/>
                <a:ea typeface="Inter SemiBold" pitchFamily="34" charset="-122"/>
                <a:cs typeface="Inter SemiBold" pitchFamily="34" charset="-120"/>
              </a:rPr>
              <a:t>after</a:t>
            </a:r>
            <a:r>
              <a:rPr lang="en-US" sz="950" dirty="0">
                <a:solidFill>
                  <a:srgbClr val="FFFFFF"/>
                </a:solidFill>
                <a:latin typeface="Inter" pitchFamily="34" charset="0"/>
                <a:ea typeface="Inter" pitchFamily="34" charset="-122"/>
                <a:cs typeface="Inter" pitchFamily="34" charset="-120"/>
              </a:rPr>
              <a:t> the irreversible install.</a:t>
            </a:r>
            <a:endParaRPr lang="en-US" sz="950" dirty="0"/>
          </a:p>
        </p:txBody>
      </p:sp>
      <p:sp>
        <p:nvSpPr>
          <p:cNvPr id="17" name="Text 13"/>
          <p:cNvSpPr/>
          <p:nvPr/>
        </p:nvSpPr>
        <p:spPr>
          <a:xfrm>
            <a:off x="5029200" y="1171575"/>
            <a:ext cx="3686175" cy="285750"/>
          </a:xfrm>
          <a:prstGeom prst="rect">
            <a:avLst/>
          </a:prstGeom>
          <a:noFill/>
          <a:ln/>
        </p:spPr>
        <p:txBody>
          <a:bodyPr wrap="none" lIns="0" tIns="0" rIns="0" bIns="0" rtlCol="0" anchor="t">
            <a:spAutoFit/>
          </a:bodyPr>
          <a:lstStyle/>
          <a:p>
            <a:pPr marL="0" indent="0" algn="l">
              <a:lnSpc>
                <a:spcPct val="88889"/>
              </a:lnSpc>
              <a:buNone/>
            </a:pPr>
            <a:r>
              <a:rPr lang="en-US" sz="1800" b="1" dirty="0">
                <a:solidFill>
                  <a:srgbClr val="F4F4F4"/>
                </a:solidFill>
                <a:latin typeface="Inter SemiBold" pitchFamily="34" charset="0"/>
                <a:ea typeface="Inter SemiBold" pitchFamily="34" charset="-122"/>
                <a:cs typeface="Inter SemiBold" pitchFamily="34" charset="-120"/>
              </a:rPr>
              <a:t>19.7%</a:t>
            </a:r>
            <a:endParaRPr lang="en-US" sz="1800" dirty="0"/>
          </a:p>
        </p:txBody>
      </p:sp>
      <p:sp>
        <p:nvSpPr>
          <p:cNvPr id="18" name="Text 14"/>
          <p:cNvSpPr/>
          <p:nvPr/>
        </p:nvSpPr>
        <p:spPr>
          <a:xfrm>
            <a:off x="5029200" y="1514475"/>
            <a:ext cx="368617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F4F4F4"/>
                </a:solidFill>
                <a:latin typeface="Inter" pitchFamily="34" charset="0"/>
                <a:ea typeface="Inter" pitchFamily="34" charset="-122"/>
                <a:cs typeface="Inter" pitchFamily="34" charset="-120"/>
              </a:rPr>
              <a:t>Package-level hallucination rate across 16 popular LLMs.</a:t>
            </a:r>
            <a:endParaRPr lang="en-US" sz="850" dirty="0"/>
          </a:p>
        </p:txBody>
      </p:sp>
      <p:sp>
        <p:nvSpPr>
          <p:cNvPr id="19" name="Text 15"/>
          <p:cNvSpPr/>
          <p:nvPr/>
        </p:nvSpPr>
        <p:spPr>
          <a:xfrm>
            <a:off x="5029200" y="2143125"/>
            <a:ext cx="3686175" cy="285750"/>
          </a:xfrm>
          <a:prstGeom prst="rect">
            <a:avLst/>
          </a:prstGeom>
          <a:noFill/>
          <a:ln/>
        </p:spPr>
        <p:txBody>
          <a:bodyPr wrap="none" lIns="0" tIns="0" rIns="0" bIns="0" rtlCol="0" anchor="t">
            <a:spAutoFit/>
          </a:bodyPr>
          <a:lstStyle/>
          <a:p>
            <a:pPr marL="0" indent="0" algn="l">
              <a:lnSpc>
                <a:spcPct val="88889"/>
              </a:lnSpc>
              <a:buNone/>
            </a:pPr>
            <a:r>
              <a:rPr lang="en-US" sz="1800" b="1" dirty="0">
                <a:solidFill>
                  <a:srgbClr val="F4F4F4"/>
                </a:solidFill>
                <a:latin typeface="Inter SemiBold" pitchFamily="34" charset="0"/>
                <a:ea typeface="Inter SemiBold" pitchFamily="34" charset="-122"/>
                <a:cs typeface="Inter SemiBold" pitchFamily="34" charset="-120"/>
              </a:rPr>
              <a:t>The GAP</a:t>
            </a:r>
            <a:endParaRPr lang="en-US" sz="1800" dirty="0"/>
          </a:p>
        </p:txBody>
      </p:sp>
      <p:sp>
        <p:nvSpPr>
          <p:cNvPr id="20" name="Text 16"/>
          <p:cNvSpPr/>
          <p:nvPr/>
        </p:nvSpPr>
        <p:spPr>
          <a:xfrm>
            <a:off x="5029200" y="2486025"/>
            <a:ext cx="3686175"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F4F4F4"/>
                </a:solidFill>
                <a:latin typeface="Inter" pitchFamily="34" charset="0"/>
                <a:ea typeface="Inter" pitchFamily="34" charset="-122"/>
                <a:cs typeface="Inter" pitchFamily="34" charset="-120"/>
              </a:rPr>
              <a:t>Hallucinated symbols in real packages are the harder failure mode. Traditional CI is too late.</a:t>
            </a:r>
            <a:endParaRPr lang="en-US" sz="850" dirty="0"/>
          </a:p>
        </p:txBody>
      </p:sp>
      <p:sp>
        <p:nvSpPr>
          <p:cNvPr id="21" name="Shape 17"/>
          <p:cNvSpPr/>
          <p:nvPr/>
        </p:nvSpPr>
        <p:spPr>
          <a:xfrm>
            <a:off x="4786313" y="3557588"/>
            <a:ext cx="3929063" cy="742950"/>
          </a:xfrm>
          <a:prstGeom prst="rect">
            <a:avLst/>
          </a:prstGeom>
          <a:solidFill>
            <a:srgbClr val="0F62FE">
              <a:alpha val="10000"/>
            </a:srgbClr>
          </a:solidFill>
          <a:ln/>
        </p:spPr>
      </p:sp>
      <p:sp>
        <p:nvSpPr>
          <p:cNvPr id="22" name="Shape 18"/>
          <p:cNvSpPr/>
          <p:nvPr/>
        </p:nvSpPr>
        <p:spPr>
          <a:xfrm>
            <a:off x="4786313" y="3557588"/>
            <a:ext cx="28575" cy="742950"/>
          </a:xfrm>
          <a:prstGeom prst="rect">
            <a:avLst/>
          </a:prstGeom>
          <a:solidFill>
            <a:srgbClr val="0F62FE"/>
          </a:solidFill>
          <a:ln/>
        </p:spPr>
      </p:sp>
      <p:sp>
        <p:nvSpPr>
          <p:cNvPr id="23" name="Text 19"/>
          <p:cNvSpPr/>
          <p:nvPr/>
        </p:nvSpPr>
        <p:spPr>
          <a:xfrm>
            <a:off x="4957763" y="3729038"/>
            <a:ext cx="3586163" cy="400050"/>
          </a:xfrm>
          <a:prstGeom prst="rect">
            <a:avLst/>
          </a:prstGeom>
          <a:noFill/>
          <a:ln/>
        </p:spPr>
        <p:txBody>
          <a:bodyPr wrap="square" lIns="0" tIns="0" rIns="0" bIns="0" rtlCol="0" anchor="t">
            <a:spAutoFit/>
          </a:bodyPr>
          <a:lstStyle/>
          <a:p>
            <a:pPr marL="0" indent="0" algn="l">
              <a:lnSpc>
                <a:spcPct val="124444"/>
              </a:lnSpc>
              <a:buNone/>
            </a:pPr>
            <a:r>
              <a:rPr lang="en-US" sz="950" i="1" dirty="0">
                <a:solidFill>
                  <a:srgbClr val="F4F4F4"/>
                </a:solidFill>
                <a:latin typeface="Inter" pitchFamily="34" charset="0"/>
                <a:ea typeface="Inter" pitchFamily="34" charset="-122"/>
                <a:cs typeface="Inter" pitchFamily="34" charset="-120"/>
              </a:rPr>
              <a:t>"The package exists, but the function the AI wrote doesn't."</a:t>
            </a:r>
            <a:endParaRPr lang="en-US" sz="950" dirty="0"/>
          </a:p>
        </p:txBody>
      </p:sp>
      <p:sp>
        <p:nvSpPr>
          <p:cNvPr id="24" name="Text 20"/>
          <p:cNvSpPr/>
          <p:nvPr/>
        </p:nvSpPr>
        <p:spPr>
          <a:xfrm>
            <a:off x="428625" y="4586288"/>
            <a:ext cx="1543050"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[DETECT: SYMBOL_HALLUCINATION]</a:t>
            </a:r>
            <a:endParaRPr lang="en-US" sz="600" dirty="0"/>
          </a:p>
        </p:txBody>
      </p:sp>
      <p:sp>
        <p:nvSpPr>
          <p:cNvPr id="25" name="Text 21"/>
          <p:cNvSpPr/>
          <p:nvPr/>
        </p:nvSpPr>
        <p:spPr>
          <a:xfrm>
            <a:off x="6400800" y="4586288"/>
            <a:ext cx="2314575"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USENIX SECURITY 2025 STUDY / L1 IDENTITY</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342900"/>
          </a:xfrm>
          <a:prstGeom prst="rect">
            <a:avLst/>
          </a:prstGeom>
          <a:noFill/>
          <a:ln/>
        </p:spPr>
        <p:txBody>
          <a:bodyPr wrap="none" lIns="0" tIns="0" rIns="0" bIns="0" rtlCol="0" anchor="t">
            <a:spAutoFit/>
          </a:bodyPr>
          <a:lstStyle/>
          <a:p>
            <a:pPr marL="0" indent="0" algn="l">
              <a:lnSpc>
                <a:spcPct val="120000"/>
              </a:lnSpc>
              <a:buNone/>
            </a:pPr>
            <a:r>
              <a:rPr lang="en-US" sz="1600" b="1" dirty="0">
                <a:solidFill>
                  <a:srgbClr val="F4F4F4"/>
                </a:solidFill>
                <a:latin typeface="IBM Plex Sans SemiBold" pitchFamily="34" charset="0"/>
                <a:ea typeface="IBM Plex Sans SemiBold" pitchFamily="34" charset="-122"/>
                <a:cs typeface="IBM Plex Sans SemiBold" pitchFamily="34" charset="-120"/>
              </a:rPr>
              <a:t>One generated import. One irreversible moment.</a:t>
            </a:r>
            <a:endParaRPr lang="en-US" sz="1600" dirty="0"/>
          </a:p>
        </p:txBody>
      </p:sp>
      <p:sp>
        <p:nvSpPr>
          <p:cNvPr id="5" name="Shape 1"/>
          <p:cNvSpPr/>
          <p:nvPr/>
        </p:nvSpPr>
        <p:spPr>
          <a:xfrm>
            <a:off x="428625" y="1733476"/>
            <a:ext cx="8286750" cy="7144"/>
          </a:xfrm>
          <a:prstGeom prst="rect">
            <a:avLst/>
          </a:prstGeom>
          <a:solidFill>
            <a:srgbClr val="393939"/>
          </a:solidFill>
          <a:ln/>
        </p:spPr>
      </p:sp>
      <p:sp>
        <p:nvSpPr>
          <p:cNvPr id="6" name="Shape 2"/>
          <p:cNvSpPr/>
          <p:nvPr/>
        </p:nvSpPr>
        <p:spPr>
          <a:xfrm>
            <a:off x="428625" y="1562026"/>
            <a:ext cx="342900" cy="342900"/>
          </a:xfrm>
          <a:prstGeom prst="rect">
            <a:avLst/>
          </a:prstGeom>
          <a:solidFill>
            <a:srgbClr val="262626"/>
          </a:solidFill>
          <a:ln w="9144">
            <a:solidFill>
              <a:srgbClr val="393939"/>
            </a:solidFill>
            <a:prstDash val="solid"/>
          </a:ln>
        </p:spPr>
      </p:sp>
      <p:sp>
        <p:nvSpPr>
          <p:cNvPr id="7" name="Text 3"/>
          <p:cNvSpPr/>
          <p:nvPr/>
        </p:nvSpPr>
        <p:spPr>
          <a:xfrm>
            <a:off x="428625" y="1562026"/>
            <a:ext cx="342900" cy="342900"/>
          </a:xfrm>
          <a:prstGeom prst="rect">
            <a:avLst/>
          </a:prstGeom>
          <a:noFill/>
          <a:ln/>
        </p:spPr>
        <p:txBody>
          <a:bodyPr wrap="square" lIns="0" tIns="0" rIns="0" bIns="0" rtlCol="0" anchor="ctr">
            <a:spAutoFit/>
          </a:bodyPr>
          <a:lstStyle/>
          <a:p>
            <a:pPr marL="0" indent="0" algn="ctr">
              <a:lnSpc>
                <a:spcPct val="120000"/>
              </a:lnSpc>
              <a:buNone/>
            </a:pPr>
            <a:r>
              <a:rPr lang="en-US" sz="750" dirty="0">
                <a:solidFill>
                  <a:srgbClr val="F4F4F4"/>
                </a:solidFill>
                <a:latin typeface="IBM Plex Mono" pitchFamily="34" charset="0"/>
                <a:ea typeface="IBM Plex Mono" pitchFamily="34" charset="-122"/>
                <a:cs typeface="IBM Plex Mono" pitchFamily="34" charset="-120"/>
              </a:rPr>
              <a:t>01</a:t>
            </a:r>
            <a:endParaRPr lang="en-US" sz="750" dirty="0"/>
          </a:p>
        </p:txBody>
      </p:sp>
      <p:sp>
        <p:nvSpPr>
          <p:cNvPr id="8" name="Text 4"/>
          <p:cNvSpPr/>
          <p:nvPr/>
        </p:nvSpPr>
        <p:spPr>
          <a:xfrm>
            <a:off x="428625" y="2076376"/>
            <a:ext cx="750094"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F4F4F4"/>
                </a:solidFill>
                <a:latin typeface="Inter SemiBold" pitchFamily="34" charset="0"/>
                <a:ea typeface="Inter SemiBold" pitchFamily="34" charset="-122"/>
                <a:cs typeface="Inter SemiBold" pitchFamily="34" charset="-120"/>
              </a:rPr>
              <a:t>Plan &amp; Write</a:t>
            </a:r>
            <a:endParaRPr lang="en-US" sz="900" dirty="0"/>
          </a:p>
        </p:txBody>
      </p:sp>
      <p:sp>
        <p:nvSpPr>
          <p:cNvPr id="9" name="Text 5"/>
          <p:cNvSpPr/>
          <p:nvPr/>
        </p:nvSpPr>
        <p:spPr>
          <a:xfrm>
            <a:off x="428625" y="2326407"/>
            <a:ext cx="1657350" cy="279946"/>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8D8D8D"/>
                </a:solidFill>
                <a:latin typeface="Inter" pitchFamily="34" charset="0"/>
                <a:ea typeface="Inter" pitchFamily="34" charset="-122"/>
                <a:cs typeface="Inter" pitchFamily="34" charset="-120"/>
              </a:rPr>
              <a:t>AI Agent generates code and identifies a new dependency.</a:t>
            </a:r>
            <a:endParaRPr lang="en-US" sz="750" dirty="0"/>
          </a:p>
        </p:txBody>
      </p:sp>
      <p:sp>
        <p:nvSpPr>
          <p:cNvPr id="10" name="Shape 6"/>
          <p:cNvSpPr/>
          <p:nvPr/>
        </p:nvSpPr>
        <p:spPr>
          <a:xfrm>
            <a:off x="2085975" y="1562026"/>
            <a:ext cx="342900" cy="342900"/>
          </a:xfrm>
          <a:prstGeom prst="rect">
            <a:avLst/>
          </a:prstGeom>
          <a:solidFill>
            <a:srgbClr val="262626"/>
          </a:solidFill>
          <a:ln w="9144">
            <a:solidFill>
              <a:srgbClr val="393939"/>
            </a:solidFill>
            <a:prstDash val="solid"/>
          </a:ln>
        </p:spPr>
      </p:sp>
      <p:sp>
        <p:nvSpPr>
          <p:cNvPr id="11" name="Text 7"/>
          <p:cNvSpPr/>
          <p:nvPr/>
        </p:nvSpPr>
        <p:spPr>
          <a:xfrm>
            <a:off x="2085975" y="1562026"/>
            <a:ext cx="342900" cy="342900"/>
          </a:xfrm>
          <a:prstGeom prst="rect">
            <a:avLst/>
          </a:prstGeom>
          <a:noFill/>
          <a:ln/>
        </p:spPr>
        <p:txBody>
          <a:bodyPr wrap="square" lIns="0" tIns="0" rIns="0" bIns="0" rtlCol="0" anchor="ctr">
            <a:spAutoFit/>
          </a:bodyPr>
          <a:lstStyle/>
          <a:p>
            <a:pPr marL="0" indent="0" algn="ctr">
              <a:lnSpc>
                <a:spcPct val="120000"/>
              </a:lnSpc>
              <a:buNone/>
            </a:pPr>
            <a:r>
              <a:rPr lang="en-US" sz="750" dirty="0">
                <a:solidFill>
                  <a:srgbClr val="F4F4F4"/>
                </a:solidFill>
                <a:latin typeface="IBM Plex Mono" pitchFamily="34" charset="0"/>
                <a:ea typeface="IBM Plex Mono" pitchFamily="34" charset="-122"/>
                <a:cs typeface="IBM Plex Mono" pitchFamily="34" charset="-120"/>
              </a:rPr>
              <a:t>02</a:t>
            </a:r>
            <a:endParaRPr lang="en-US" sz="750" dirty="0"/>
          </a:p>
        </p:txBody>
      </p:sp>
      <p:sp>
        <p:nvSpPr>
          <p:cNvPr id="12" name="Text 8"/>
          <p:cNvSpPr/>
          <p:nvPr/>
        </p:nvSpPr>
        <p:spPr>
          <a:xfrm>
            <a:off x="2085975" y="2076376"/>
            <a:ext cx="532209"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F4F4F4"/>
                </a:solidFill>
                <a:latin typeface="Inter SemiBold" pitchFamily="34" charset="0"/>
                <a:ea typeface="Inter SemiBold" pitchFamily="34" charset="-122"/>
                <a:cs typeface="Inter SemiBold" pitchFamily="34" charset="-120"/>
              </a:rPr>
              <a:t>Tool Call</a:t>
            </a:r>
            <a:endParaRPr lang="en-US" sz="900" dirty="0"/>
          </a:p>
        </p:txBody>
      </p:sp>
      <p:sp>
        <p:nvSpPr>
          <p:cNvPr id="13" name="Text 9"/>
          <p:cNvSpPr/>
          <p:nvPr/>
        </p:nvSpPr>
        <p:spPr>
          <a:xfrm>
            <a:off x="2085975" y="2333551"/>
            <a:ext cx="982266" cy="121444"/>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8D8D8D"/>
                </a:solidFill>
                <a:latin typeface="Inter" pitchFamily="34" charset="0"/>
                <a:ea typeface="Inter" pitchFamily="34" charset="-122"/>
                <a:cs typeface="Inter" pitchFamily="34" charset="-120"/>
              </a:rPr>
              <a:t>The agent proposes</a:t>
            </a:r>
            <a:endParaRPr lang="en-US" sz="750" dirty="0"/>
          </a:p>
        </p:txBody>
      </p:sp>
      <p:sp>
        <p:nvSpPr>
          <p:cNvPr id="14" name="Text 10"/>
          <p:cNvSpPr/>
          <p:nvPr/>
        </p:nvSpPr>
        <p:spPr>
          <a:xfrm>
            <a:off x="3068241" y="2351410"/>
            <a:ext cx="660239" cy="11072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8D8D8D"/>
                </a:solidFill>
                <a:latin typeface="SFMono-Regular" pitchFamily="34" charset="0"/>
                <a:ea typeface="SFMono-Regular" pitchFamily="34" charset="-122"/>
                <a:cs typeface="SFMono-Regular" pitchFamily="34" charset="-120"/>
              </a:rPr>
              <a:t>npm install</a:t>
            </a:r>
            <a:endParaRPr lang="en-US" sz="750" dirty="0"/>
          </a:p>
        </p:txBody>
      </p:sp>
      <p:sp>
        <p:nvSpPr>
          <p:cNvPr id="15" name="Text 11"/>
          <p:cNvSpPr/>
          <p:nvPr/>
        </p:nvSpPr>
        <p:spPr>
          <a:xfrm>
            <a:off x="2085975" y="2484239"/>
            <a:ext cx="1168003" cy="121444"/>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8D8D8D"/>
                </a:solidFill>
                <a:latin typeface="Inter" pitchFamily="34" charset="0"/>
                <a:ea typeface="Inter" pitchFamily="34" charset="-122"/>
                <a:cs typeface="Inter" pitchFamily="34" charset="-120"/>
              </a:rPr>
              <a:t>to fulfill the requirement.</a:t>
            </a:r>
            <a:endParaRPr lang="en-US" sz="750" dirty="0"/>
          </a:p>
        </p:txBody>
      </p:sp>
      <p:sp>
        <p:nvSpPr>
          <p:cNvPr id="16" name="Shape 12"/>
          <p:cNvSpPr/>
          <p:nvPr/>
        </p:nvSpPr>
        <p:spPr>
          <a:xfrm>
            <a:off x="3743325" y="1562026"/>
            <a:ext cx="342900" cy="342900"/>
          </a:xfrm>
          <a:prstGeom prst="rect">
            <a:avLst/>
          </a:prstGeom>
          <a:solidFill>
            <a:srgbClr val="262626"/>
          </a:solidFill>
          <a:ln w="18288">
            <a:solidFill>
              <a:srgbClr val="0F62FE"/>
            </a:solidFill>
            <a:prstDash val="solid"/>
          </a:ln>
        </p:spPr>
      </p:sp>
      <p:sp>
        <p:nvSpPr>
          <p:cNvPr id="17" name="Text 13"/>
          <p:cNvSpPr/>
          <p:nvPr/>
        </p:nvSpPr>
        <p:spPr>
          <a:xfrm>
            <a:off x="3743325" y="1562026"/>
            <a:ext cx="342900" cy="342900"/>
          </a:xfrm>
          <a:prstGeom prst="rect">
            <a:avLst/>
          </a:prstGeom>
          <a:noFill/>
          <a:ln/>
        </p:spPr>
        <p:txBody>
          <a:bodyPr wrap="square" lIns="0" tIns="0" rIns="0" bIns="0" rtlCol="0" anchor="ctr">
            <a:spAutoFit/>
          </a:bodyPr>
          <a:lstStyle/>
          <a:p>
            <a:pPr marL="0" indent="0" algn="ctr">
              <a:lnSpc>
                <a:spcPct val="120000"/>
              </a:lnSpc>
              <a:buNone/>
            </a:pPr>
            <a:r>
              <a:rPr lang="en-US" sz="750" dirty="0">
                <a:solidFill>
                  <a:srgbClr val="0F62FE"/>
                </a:solidFill>
                <a:latin typeface="IBM Plex Mono" pitchFamily="34" charset="0"/>
                <a:ea typeface="IBM Plex Mono" pitchFamily="34" charset="-122"/>
                <a:cs typeface="IBM Plex Mono" pitchFamily="34" charset="-120"/>
              </a:rPr>
              <a:t>03</a:t>
            </a:r>
            <a:endParaRPr lang="en-US" sz="750" dirty="0"/>
          </a:p>
        </p:txBody>
      </p:sp>
      <p:sp>
        <p:nvSpPr>
          <p:cNvPr id="18" name="Text 14"/>
          <p:cNvSpPr/>
          <p:nvPr/>
        </p:nvSpPr>
        <p:spPr>
          <a:xfrm>
            <a:off x="3743325" y="2076376"/>
            <a:ext cx="746522"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nter SemiBold" pitchFamily="34" charset="0"/>
                <a:ea typeface="Inter SemiBold" pitchFamily="34" charset="-122"/>
                <a:cs typeface="Inter SemiBold" pitchFamily="34" charset="-120"/>
              </a:rPr>
              <a:t>Interception</a:t>
            </a:r>
            <a:endParaRPr lang="en-US" sz="900" dirty="0"/>
          </a:p>
        </p:txBody>
      </p:sp>
      <p:sp>
        <p:nvSpPr>
          <p:cNvPr id="19" name="Text 15"/>
          <p:cNvSpPr/>
          <p:nvPr/>
        </p:nvSpPr>
        <p:spPr>
          <a:xfrm>
            <a:off x="3743325" y="2326407"/>
            <a:ext cx="1657350" cy="279946"/>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8D8D8D"/>
                </a:solidFill>
                <a:latin typeface="Inter SemiBold" pitchFamily="34" charset="0"/>
                <a:ea typeface="Inter SemiBold" pitchFamily="34" charset="-122"/>
                <a:cs typeface="Inter SemiBold" pitchFamily="34" charset="-120"/>
              </a:rPr>
              <a:t>phantomdeps</a:t>
            </a:r>
            <a:r>
              <a:rPr lang="en-US" sz="750" dirty="0">
                <a:solidFill>
                  <a:srgbClr val="8D8D8D"/>
                </a:solidFill>
                <a:latin typeface="Inter" pitchFamily="34" charset="0"/>
                <a:ea typeface="Inter" pitchFamily="34" charset="-122"/>
                <a:cs typeface="Inter" pitchFamily="34" charset="-120"/>
              </a:rPr>
              <a:t> halts the command. IBM Bob's PreToolUse hook fires.</a:t>
            </a:r>
            <a:endParaRPr lang="en-US" sz="700" dirty="0"/>
          </a:p>
        </p:txBody>
      </p:sp>
      <p:sp>
        <p:nvSpPr>
          <p:cNvPr id="20" name="Shape 16"/>
          <p:cNvSpPr/>
          <p:nvPr/>
        </p:nvSpPr>
        <p:spPr>
          <a:xfrm>
            <a:off x="5400675" y="1562026"/>
            <a:ext cx="342900" cy="342900"/>
          </a:xfrm>
          <a:prstGeom prst="rect">
            <a:avLst/>
          </a:prstGeom>
          <a:solidFill>
            <a:srgbClr val="262626"/>
          </a:solidFill>
          <a:ln w="9144">
            <a:solidFill>
              <a:srgbClr val="393939"/>
            </a:solidFill>
            <a:prstDash val="solid"/>
          </a:ln>
        </p:spPr>
      </p:sp>
      <p:sp>
        <p:nvSpPr>
          <p:cNvPr id="21" name="Text 17"/>
          <p:cNvSpPr/>
          <p:nvPr/>
        </p:nvSpPr>
        <p:spPr>
          <a:xfrm>
            <a:off x="5400675" y="1562026"/>
            <a:ext cx="342900" cy="342900"/>
          </a:xfrm>
          <a:prstGeom prst="rect">
            <a:avLst/>
          </a:prstGeom>
          <a:noFill/>
          <a:ln/>
        </p:spPr>
        <p:txBody>
          <a:bodyPr wrap="square" lIns="0" tIns="0" rIns="0" bIns="0" rtlCol="0" anchor="ctr">
            <a:spAutoFit/>
          </a:bodyPr>
          <a:lstStyle/>
          <a:p>
            <a:pPr marL="0" indent="0" algn="ctr">
              <a:lnSpc>
                <a:spcPct val="120000"/>
              </a:lnSpc>
              <a:buNone/>
            </a:pPr>
            <a:r>
              <a:rPr lang="en-US" sz="750" dirty="0">
                <a:solidFill>
                  <a:srgbClr val="F4F4F4"/>
                </a:solidFill>
                <a:latin typeface="IBM Plex Mono" pitchFamily="34" charset="0"/>
                <a:ea typeface="IBM Plex Mono" pitchFamily="34" charset="-122"/>
                <a:cs typeface="IBM Plex Mono" pitchFamily="34" charset="-120"/>
              </a:rPr>
              <a:t>04</a:t>
            </a:r>
            <a:endParaRPr lang="en-US" sz="750" dirty="0"/>
          </a:p>
        </p:txBody>
      </p:sp>
      <p:sp>
        <p:nvSpPr>
          <p:cNvPr id="22" name="Text 18"/>
          <p:cNvSpPr/>
          <p:nvPr/>
        </p:nvSpPr>
        <p:spPr>
          <a:xfrm>
            <a:off x="5400675" y="2076376"/>
            <a:ext cx="710803"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F4F4F4"/>
                </a:solidFill>
                <a:latin typeface="Inter SemiBold" pitchFamily="34" charset="0"/>
                <a:ea typeface="Inter SemiBold" pitchFamily="34" charset="-122"/>
                <a:cs typeface="Inter SemiBold" pitchFamily="34" charset="-120"/>
              </a:rPr>
              <a:t>Verification</a:t>
            </a:r>
            <a:endParaRPr lang="en-US" sz="900" dirty="0"/>
          </a:p>
        </p:txBody>
      </p:sp>
      <p:sp>
        <p:nvSpPr>
          <p:cNvPr id="23" name="Text 19"/>
          <p:cNvSpPr/>
          <p:nvPr/>
        </p:nvSpPr>
        <p:spPr>
          <a:xfrm>
            <a:off x="5400675" y="2326407"/>
            <a:ext cx="1657350" cy="279946"/>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8D8D8D"/>
                </a:solidFill>
                <a:latin typeface="Inter" pitchFamily="34" charset="0"/>
                <a:ea typeface="Inter" pitchFamily="34" charset="-122"/>
                <a:cs typeface="Inter" pitchFamily="34" charset="-120"/>
              </a:rPr>
              <a:t>Registry identity, tarball integrity, and static symbol AST analysis.</a:t>
            </a:r>
            <a:endParaRPr lang="en-US" sz="750" dirty="0"/>
          </a:p>
        </p:txBody>
      </p:sp>
      <p:sp>
        <p:nvSpPr>
          <p:cNvPr id="24" name="Shape 20"/>
          <p:cNvSpPr/>
          <p:nvPr/>
        </p:nvSpPr>
        <p:spPr>
          <a:xfrm>
            <a:off x="7058025" y="1562026"/>
            <a:ext cx="342900" cy="342900"/>
          </a:xfrm>
          <a:prstGeom prst="rect">
            <a:avLst/>
          </a:prstGeom>
          <a:solidFill>
            <a:srgbClr val="262626"/>
          </a:solidFill>
          <a:ln w="18288">
            <a:solidFill>
              <a:srgbClr val="DA1E28"/>
            </a:solidFill>
            <a:prstDash val="solid"/>
          </a:ln>
        </p:spPr>
      </p:sp>
      <p:sp>
        <p:nvSpPr>
          <p:cNvPr id="25" name="Text 21"/>
          <p:cNvSpPr/>
          <p:nvPr/>
        </p:nvSpPr>
        <p:spPr>
          <a:xfrm>
            <a:off x="7058025" y="1562026"/>
            <a:ext cx="342900" cy="342900"/>
          </a:xfrm>
          <a:prstGeom prst="rect">
            <a:avLst/>
          </a:prstGeom>
          <a:noFill/>
          <a:ln/>
        </p:spPr>
        <p:txBody>
          <a:bodyPr wrap="square" lIns="0" tIns="0" rIns="0" bIns="0" rtlCol="0" anchor="ctr">
            <a:spAutoFit/>
          </a:bodyPr>
          <a:lstStyle/>
          <a:p>
            <a:pPr marL="0" indent="0" algn="ctr">
              <a:lnSpc>
                <a:spcPct val="120000"/>
              </a:lnSpc>
              <a:buNone/>
            </a:pPr>
            <a:r>
              <a:rPr lang="en-US" sz="750" dirty="0">
                <a:solidFill>
                  <a:srgbClr val="DA1E28"/>
                </a:solidFill>
                <a:latin typeface="IBM Plex Mono" pitchFamily="34" charset="0"/>
                <a:ea typeface="IBM Plex Mono" pitchFamily="34" charset="-122"/>
                <a:cs typeface="IBM Plex Mono" pitchFamily="34" charset="-120"/>
              </a:rPr>
              <a:t>05</a:t>
            </a:r>
            <a:endParaRPr lang="en-US" sz="750" dirty="0"/>
          </a:p>
        </p:txBody>
      </p:sp>
      <p:sp>
        <p:nvSpPr>
          <p:cNvPr id="26" name="Text 22"/>
          <p:cNvSpPr/>
          <p:nvPr/>
        </p:nvSpPr>
        <p:spPr>
          <a:xfrm>
            <a:off x="7058025" y="2076376"/>
            <a:ext cx="1657350"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DA1E28"/>
                </a:solidFill>
                <a:latin typeface="Inter SemiBold" pitchFamily="34" charset="0"/>
                <a:ea typeface="Inter SemiBold" pitchFamily="34" charset="-122"/>
                <a:cs typeface="Inter SemiBold" pitchFamily="34" charset="-120"/>
              </a:rPr>
              <a:t>Verdict</a:t>
            </a:r>
            <a:endParaRPr lang="en-US" sz="900" dirty="0"/>
          </a:p>
        </p:txBody>
      </p:sp>
      <p:sp>
        <p:nvSpPr>
          <p:cNvPr id="27" name="Text 23"/>
          <p:cNvSpPr/>
          <p:nvPr/>
        </p:nvSpPr>
        <p:spPr>
          <a:xfrm>
            <a:off x="7058025" y="2326407"/>
            <a:ext cx="1657350" cy="279946"/>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8D8D8D"/>
                </a:solidFill>
                <a:latin typeface="Inter" pitchFamily="34" charset="0"/>
                <a:ea typeface="Inter" pitchFamily="34" charset="-122"/>
                <a:cs typeface="Inter" pitchFamily="34" charset="-120"/>
              </a:rPr>
              <a:t>Fail-closed enforcement. </a:t>
            </a:r>
            <a:r>
              <a:rPr lang="en-US" sz="700" b="1" dirty="0">
                <a:solidFill>
                  <a:srgbClr val="8D8D8D"/>
                </a:solidFill>
                <a:latin typeface="Inter SemiBold" pitchFamily="34" charset="0"/>
                <a:ea typeface="Inter SemiBold" pitchFamily="34" charset="-122"/>
                <a:cs typeface="Inter SemiBold" pitchFamily="34" charset="-120"/>
              </a:rPr>
              <a:t>BLOCK</a:t>
            </a:r>
            <a:r>
              <a:rPr lang="en-US" sz="750" dirty="0">
                <a:solidFill>
                  <a:srgbClr val="8D8D8D"/>
                </a:solidFill>
                <a:latin typeface="Inter" pitchFamily="34" charset="0"/>
                <a:ea typeface="Inter" pitchFamily="34" charset="-122"/>
                <a:cs typeface="Inter" pitchFamily="34" charset="-120"/>
              </a:rPr>
              <a:t> if the claim is unproven.</a:t>
            </a:r>
            <a:endParaRPr lang="en-US" sz="750" dirty="0"/>
          </a:p>
        </p:txBody>
      </p:sp>
      <p:sp>
        <p:nvSpPr>
          <p:cNvPr id="28" name="Text 24"/>
          <p:cNvSpPr/>
          <p:nvPr/>
        </p:nvSpPr>
        <p:spPr>
          <a:xfrm>
            <a:off x="428625" y="3538612"/>
            <a:ext cx="3971925" cy="200025"/>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FFFFFF"/>
                </a:solidFill>
                <a:latin typeface="Inter SemiBold" pitchFamily="34" charset="0"/>
                <a:ea typeface="Inter SemiBold" pitchFamily="34" charset="-122"/>
                <a:cs typeface="Inter SemiBold" pitchFamily="34" charset="-120"/>
              </a:rPr>
              <a:t>Without phantomdeps</a:t>
            </a:r>
            <a:endParaRPr lang="en-US" sz="1000" dirty="0"/>
          </a:p>
        </p:txBody>
      </p:sp>
      <p:sp>
        <p:nvSpPr>
          <p:cNvPr id="29" name="Text 25"/>
          <p:cNvSpPr/>
          <p:nvPr/>
        </p:nvSpPr>
        <p:spPr>
          <a:xfrm>
            <a:off x="428625" y="3852937"/>
            <a:ext cx="3971925" cy="371475"/>
          </a:xfrm>
          <a:prstGeom prst="rect">
            <a:avLst/>
          </a:prstGeom>
          <a:noFill/>
          <a:ln/>
        </p:spPr>
        <p:txBody>
          <a:bodyPr wrap="square" lIns="0" tIns="0" rIns="0" bIns="0" rtlCol="0" anchor="t">
            <a:spAutoFit/>
          </a:bodyPr>
          <a:lstStyle/>
          <a:p>
            <a:pPr marL="0" indent="0" algn="l">
              <a:lnSpc>
                <a:spcPct val="130000"/>
              </a:lnSpc>
              <a:buNone/>
            </a:pPr>
            <a:r>
              <a:rPr lang="en-US" sz="850" dirty="0">
                <a:solidFill>
                  <a:srgbClr val="F4F4F4"/>
                </a:solidFill>
                <a:latin typeface="Inter" pitchFamily="34" charset="0"/>
                <a:ea typeface="Inter" pitchFamily="34" charset="-122"/>
                <a:cs typeface="Inter" pitchFamily="34" charset="-120"/>
              </a:rPr>
              <a:t>Agent installs package → `npm install` runs arbitrary lifecycle scripts → build fails on missing symbol → environment is compromised or broken.</a:t>
            </a:r>
            <a:endParaRPr lang="en-US" sz="850" dirty="0"/>
          </a:p>
        </p:txBody>
      </p:sp>
      <p:sp>
        <p:nvSpPr>
          <p:cNvPr id="30" name="Text 26"/>
          <p:cNvSpPr/>
          <p:nvPr/>
        </p:nvSpPr>
        <p:spPr>
          <a:xfrm>
            <a:off x="4743450" y="3538612"/>
            <a:ext cx="3971925" cy="200025"/>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0F62FE"/>
                </a:solidFill>
                <a:latin typeface="Inter SemiBold" pitchFamily="34" charset="0"/>
                <a:ea typeface="Inter SemiBold" pitchFamily="34" charset="-122"/>
                <a:cs typeface="Inter SemiBold" pitchFamily="34" charset="-120"/>
              </a:rPr>
              <a:t>With phantomdeps</a:t>
            </a:r>
            <a:endParaRPr lang="en-US" sz="1000" dirty="0"/>
          </a:p>
        </p:txBody>
      </p:sp>
      <p:sp>
        <p:nvSpPr>
          <p:cNvPr id="31" name="Text 27"/>
          <p:cNvSpPr/>
          <p:nvPr/>
        </p:nvSpPr>
        <p:spPr>
          <a:xfrm>
            <a:off x="4743450" y="3852937"/>
            <a:ext cx="3971925" cy="371475"/>
          </a:xfrm>
          <a:prstGeom prst="rect">
            <a:avLst/>
          </a:prstGeom>
          <a:noFill/>
          <a:ln/>
        </p:spPr>
        <p:txBody>
          <a:bodyPr wrap="square" lIns="0" tIns="0" rIns="0" bIns="0" rtlCol="0" anchor="t">
            <a:spAutoFit/>
          </a:bodyPr>
          <a:lstStyle/>
          <a:p>
            <a:pPr marL="0" indent="0" algn="l">
              <a:lnSpc>
                <a:spcPct val="130000"/>
              </a:lnSpc>
              <a:buNone/>
            </a:pPr>
            <a:r>
              <a:rPr lang="en-US" sz="850" dirty="0">
                <a:solidFill>
                  <a:srgbClr val="F4F4F4"/>
                </a:solidFill>
                <a:latin typeface="Inter" pitchFamily="34" charset="0"/>
                <a:ea typeface="Inter" pitchFamily="34" charset="-122"/>
                <a:cs typeface="Inter" pitchFamily="34" charset="-120"/>
              </a:rPr>
              <a:t>Interception → byte-level inspection → claim verified or rejected → zero untrusted code execution → </a:t>
            </a:r>
            <a:r>
              <a:rPr lang="en-US" sz="800" b="1" dirty="0">
                <a:solidFill>
                  <a:srgbClr val="F4F4F4"/>
                </a:solidFill>
                <a:latin typeface="Inter SemiBold" pitchFamily="34" charset="0"/>
                <a:ea typeface="Inter SemiBold" pitchFamily="34" charset="-122"/>
                <a:cs typeface="Inter SemiBold" pitchFamily="34" charset="-120"/>
              </a:rPr>
              <a:t>Deterministic Safety.</a:t>
            </a:r>
            <a:endParaRPr lang="en-US" sz="850" dirty="0"/>
          </a:p>
        </p:txBody>
      </p:sp>
      <p:sp>
        <p:nvSpPr>
          <p:cNvPr id="32" name="Text 28"/>
          <p:cNvSpPr/>
          <p:nvPr/>
        </p:nvSpPr>
        <p:spPr>
          <a:xfrm>
            <a:off x="428625" y="4586288"/>
            <a:ext cx="1851682"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[GATE_ACTION: INTERCEPT_PRE_INSTALL]</a:t>
            </a:r>
            <a:endParaRPr lang="en-US" sz="600" dirty="0"/>
          </a:p>
        </p:txBody>
      </p:sp>
      <p:sp>
        <p:nvSpPr>
          <p:cNvPr id="33" name="Text 29"/>
          <p:cNvSpPr/>
          <p:nvPr/>
        </p:nvSpPr>
        <p:spPr>
          <a:xfrm>
            <a:off x="7172325" y="4586288"/>
            <a:ext cx="1543050"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.BOB/HOOKS/PRETOOLUSE.MJS</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342900"/>
          </a:xfrm>
          <a:prstGeom prst="rect">
            <a:avLst/>
          </a:prstGeom>
          <a:noFill/>
          <a:ln/>
        </p:spPr>
        <p:txBody>
          <a:bodyPr wrap="none" lIns="0" tIns="0" rIns="0" bIns="0" rtlCol="0" anchor="t">
            <a:spAutoFit/>
          </a:bodyPr>
          <a:lstStyle/>
          <a:p>
            <a:pPr marL="0" indent="0" algn="l">
              <a:lnSpc>
                <a:spcPct val="120000"/>
              </a:lnSpc>
              <a:buNone/>
            </a:pPr>
            <a:r>
              <a:rPr lang="en-US" sz="1600" b="1" dirty="0">
                <a:solidFill>
                  <a:srgbClr val="F4F4F4"/>
                </a:solidFill>
                <a:latin typeface="IBM Plex Sans SemiBold" pitchFamily="34" charset="0"/>
                <a:ea typeface="IBM Plex Sans SemiBold" pitchFamily="34" charset="-122"/>
                <a:cs typeface="IBM Plex Sans SemiBold" pitchFamily="34" charset="-120"/>
              </a:rPr>
              <a:t>A deterministic claim gate, not another assistant</a:t>
            </a:r>
            <a:endParaRPr lang="en-US" sz="1600" dirty="0"/>
          </a:p>
        </p:txBody>
      </p:sp>
      <p:sp>
        <p:nvSpPr>
          <p:cNvPr id="5" name="Text 1"/>
          <p:cNvSpPr/>
          <p:nvPr/>
        </p:nvSpPr>
        <p:spPr>
          <a:xfrm>
            <a:off x="607219" y="1307306"/>
            <a:ext cx="1585913"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4F4F4">
                    <a:alpha val="50000"/>
                  </a:srgbClr>
                </a:solidFill>
                <a:latin typeface="IBM Plex Mono" pitchFamily="34" charset="0"/>
                <a:ea typeface="IBM Plex Mono" pitchFamily="34" charset="-122"/>
                <a:cs typeface="IBM Plex Mono" pitchFamily="34" charset="-120"/>
              </a:rPr>
              <a:t>L1</a:t>
            </a:r>
            <a:endParaRPr lang="en-US" sz="750" dirty="0"/>
          </a:p>
        </p:txBody>
      </p:sp>
      <p:sp>
        <p:nvSpPr>
          <p:cNvPr id="6" name="Text 2"/>
          <p:cNvSpPr/>
          <p:nvPr/>
        </p:nvSpPr>
        <p:spPr>
          <a:xfrm>
            <a:off x="607219" y="1543050"/>
            <a:ext cx="1585913"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F4F4F4"/>
                </a:solidFill>
                <a:latin typeface="Inter SemiBold" pitchFamily="34" charset="0"/>
                <a:ea typeface="Inter SemiBold" pitchFamily="34" charset="-122"/>
                <a:cs typeface="Inter SemiBold" pitchFamily="34" charset="-120"/>
              </a:rPr>
              <a:t>Identity</a:t>
            </a:r>
            <a:endParaRPr lang="en-US" sz="1000" dirty="0"/>
          </a:p>
        </p:txBody>
      </p:sp>
      <p:sp>
        <p:nvSpPr>
          <p:cNvPr id="7" name="Text 3"/>
          <p:cNvSpPr/>
          <p:nvPr/>
        </p:nvSpPr>
        <p:spPr>
          <a:xfrm>
            <a:off x="607219" y="1843088"/>
            <a:ext cx="1585913" cy="600075"/>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Registry-level existence check. Validates exact version and SHA-512 integrity digests against registry packuments.</a:t>
            </a:r>
            <a:endParaRPr lang="en-US" sz="750" dirty="0"/>
          </a:p>
        </p:txBody>
      </p:sp>
      <p:sp>
        <p:nvSpPr>
          <p:cNvPr id="8" name="Text 4"/>
          <p:cNvSpPr/>
          <p:nvPr/>
        </p:nvSpPr>
        <p:spPr>
          <a:xfrm>
            <a:off x="2721769" y="1307306"/>
            <a:ext cx="1585913"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0F62FE">
                    <a:alpha val="50000"/>
                  </a:srgbClr>
                </a:solidFill>
                <a:latin typeface="IBM Plex Mono" pitchFamily="34" charset="0"/>
                <a:ea typeface="IBM Plex Mono" pitchFamily="34" charset="-122"/>
                <a:cs typeface="IBM Plex Mono" pitchFamily="34" charset="-120"/>
              </a:rPr>
              <a:t>L2</a:t>
            </a:r>
            <a:endParaRPr lang="en-US" sz="750" dirty="0"/>
          </a:p>
        </p:txBody>
      </p:sp>
      <p:sp>
        <p:nvSpPr>
          <p:cNvPr id="9" name="Text 5"/>
          <p:cNvSpPr/>
          <p:nvPr/>
        </p:nvSpPr>
        <p:spPr>
          <a:xfrm>
            <a:off x="2721769" y="1543050"/>
            <a:ext cx="1585913"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F62FE"/>
                </a:solidFill>
                <a:latin typeface="Inter SemiBold" pitchFamily="34" charset="0"/>
                <a:ea typeface="Inter SemiBold" pitchFamily="34" charset="-122"/>
                <a:cs typeface="Inter SemiBold" pitchFamily="34" charset="-120"/>
              </a:rPr>
              <a:t>API Claim</a:t>
            </a:r>
            <a:endParaRPr lang="en-US" sz="1000" dirty="0"/>
          </a:p>
        </p:txBody>
      </p:sp>
      <p:sp>
        <p:nvSpPr>
          <p:cNvPr id="10" name="Text 6"/>
          <p:cNvSpPr/>
          <p:nvPr/>
        </p:nvSpPr>
        <p:spPr>
          <a:xfrm>
            <a:off x="2721769" y="1857375"/>
            <a:ext cx="1078706" cy="121444"/>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Static AST verification.</a:t>
            </a:r>
            <a:endParaRPr lang="en-US" sz="750" dirty="0"/>
          </a:p>
        </p:txBody>
      </p:sp>
      <p:sp>
        <p:nvSpPr>
          <p:cNvPr id="11" name="Text 7"/>
          <p:cNvSpPr/>
          <p:nvPr/>
        </p:nvSpPr>
        <p:spPr>
          <a:xfrm>
            <a:off x="2721769" y="2007394"/>
            <a:ext cx="1471613" cy="121444"/>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Downloads and extracts tarball</a:t>
            </a:r>
            <a:endParaRPr lang="en-US" sz="750" dirty="0"/>
          </a:p>
        </p:txBody>
      </p:sp>
      <p:sp>
        <p:nvSpPr>
          <p:cNvPr id="12" name="Text 8"/>
          <p:cNvSpPr/>
          <p:nvPr/>
        </p:nvSpPr>
        <p:spPr>
          <a:xfrm>
            <a:off x="2721769" y="2157413"/>
            <a:ext cx="1485900" cy="121444"/>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in-memory to verify symbols in</a:t>
            </a:r>
            <a:endParaRPr lang="en-US" sz="750" dirty="0"/>
          </a:p>
        </p:txBody>
      </p:sp>
      <p:sp>
        <p:nvSpPr>
          <p:cNvPr id="13" name="Text 9"/>
          <p:cNvSpPr/>
          <p:nvPr/>
        </p:nvSpPr>
        <p:spPr>
          <a:xfrm>
            <a:off x="2721769" y="2325291"/>
            <a:ext cx="1200373"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SFMono-Regular" pitchFamily="34" charset="0"/>
                <a:ea typeface="SFMono-Regular" pitchFamily="34" charset="-122"/>
                <a:cs typeface="SFMono-Regular" pitchFamily="34" charset="-120"/>
              </a:rPr>
              <a:t>package.json#exports</a:t>
            </a:r>
            <a:endParaRPr lang="en-US" sz="750" dirty="0"/>
          </a:p>
        </p:txBody>
      </p:sp>
      <p:sp>
        <p:nvSpPr>
          <p:cNvPr id="14" name="Text 10"/>
          <p:cNvSpPr/>
          <p:nvPr/>
        </p:nvSpPr>
        <p:spPr>
          <a:xfrm>
            <a:off x="3922142" y="2307431"/>
            <a:ext cx="207169" cy="121444"/>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and</a:t>
            </a:r>
            <a:endParaRPr lang="en-US" sz="750" dirty="0"/>
          </a:p>
        </p:txBody>
      </p:sp>
      <p:sp>
        <p:nvSpPr>
          <p:cNvPr id="15" name="Text 11"/>
          <p:cNvSpPr/>
          <p:nvPr/>
        </p:nvSpPr>
        <p:spPr>
          <a:xfrm>
            <a:off x="2721769" y="2489597"/>
            <a:ext cx="300093" cy="110728"/>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SFMono-Regular" pitchFamily="34" charset="0"/>
                <a:ea typeface="SFMono-Regular" pitchFamily="34" charset="-122"/>
                <a:cs typeface="SFMono-Regular" pitchFamily="34" charset="-120"/>
              </a:rPr>
              <a:t>.d.ts</a:t>
            </a:r>
            <a:endParaRPr lang="en-US" sz="750" dirty="0"/>
          </a:p>
        </p:txBody>
      </p:sp>
      <p:sp>
        <p:nvSpPr>
          <p:cNvPr id="16" name="Text 12"/>
          <p:cNvSpPr/>
          <p:nvPr/>
        </p:nvSpPr>
        <p:spPr>
          <a:xfrm>
            <a:off x="3021862" y="2471738"/>
            <a:ext cx="253603" cy="121444"/>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files.</a:t>
            </a:r>
            <a:endParaRPr lang="en-US" sz="750" dirty="0"/>
          </a:p>
        </p:txBody>
      </p:sp>
      <p:sp>
        <p:nvSpPr>
          <p:cNvPr id="17" name="Text 13"/>
          <p:cNvSpPr/>
          <p:nvPr/>
        </p:nvSpPr>
        <p:spPr>
          <a:xfrm>
            <a:off x="4836319" y="1307306"/>
            <a:ext cx="1585913"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4F4F4">
                    <a:alpha val="50000"/>
                  </a:srgbClr>
                </a:solidFill>
                <a:latin typeface="IBM Plex Mono" pitchFamily="34" charset="0"/>
                <a:ea typeface="IBM Plex Mono" pitchFamily="34" charset="-122"/>
                <a:cs typeface="IBM Plex Mono" pitchFamily="34" charset="-120"/>
              </a:rPr>
              <a:t>L3</a:t>
            </a:r>
            <a:endParaRPr lang="en-US" sz="750" dirty="0"/>
          </a:p>
        </p:txBody>
      </p:sp>
      <p:sp>
        <p:nvSpPr>
          <p:cNvPr id="18" name="Text 14"/>
          <p:cNvSpPr/>
          <p:nvPr/>
        </p:nvSpPr>
        <p:spPr>
          <a:xfrm>
            <a:off x="4836319" y="1543050"/>
            <a:ext cx="1585913"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F4F4F4"/>
                </a:solidFill>
                <a:latin typeface="Inter SemiBold" pitchFamily="34" charset="0"/>
                <a:ea typeface="Inter SemiBold" pitchFamily="34" charset="-122"/>
                <a:cs typeface="Inter SemiBold" pitchFamily="34" charset="-120"/>
              </a:rPr>
              <a:t>Risk Signals</a:t>
            </a:r>
            <a:endParaRPr lang="en-US" sz="1000" dirty="0"/>
          </a:p>
        </p:txBody>
      </p:sp>
      <p:sp>
        <p:nvSpPr>
          <p:cNvPr id="19" name="Text 15"/>
          <p:cNvSpPr/>
          <p:nvPr/>
        </p:nvSpPr>
        <p:spPr>
          <a:xfrm>
            <a:off x="4836319" y="1843088"/>
            <a:ext cx="1585913" cy="600075"/>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Heuristic threat scanning. Flags extreme recency (&lt;7 days) and the presence of lifecycle install scripts.</a:t>
            </a:r>
            <a:endParaRPr lang="en-US" sz="750" dirty="0"/>
          </a:p>
        </p:txBody>
      </p:sp>
      <p:sp>
        <p:nvSpPr>
          <p:cNvPr id="20" name="Text 16"/>
          <p:cNvSpPr/>
          <p:nvPr/>
        </p:nvSpPr>
        <p:spPr>
          <a:xfrm>
            <a:off x="6950869" y="1307306"/>
            <a:ext cx="1585913"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F4F4F4">
                    <a:alpha val="50000"/>
                  </a:srgbClr>
                </a:solidFill>
                <a:latin typeface="IBM Plex Mono" pitchFamily="34" charset="0"/>
                <a:ea typeface="IBM Plex Mono" pitchFamily="34" charset="-122"/>
                <a:cs typeface="IBM Plex Mono" pitchFamily="34" charset="-120"/>
              </a:rPr>
              <a:t>Log</a:t>
            </a:r>
            <a:endParaRPr lang="en-US" sz="750" dirty="0"/>
          </a:p>
        </p:txBody>
      </p:sp>
      <p:sp>
        <p:nvSpPr>
          <p:cNvPr id="21" name="Text 17"/>
          <p:cNvSpPr/>
          <p:nvPr/>
        </p:nvSpPr>
        <p:spPr>
          <a:xfrm>
            <a:off x="6950869" y="1543050"/>
            <a:ext cx="1585913"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F4F4F4"/>
                </a:solidFill>
                <a:latin typeface="Inter SemiBold" pitchFamily="34" charset="0"/>
                <a:ea typeface="Inter SemiBold" pitchFamily="34" charset="-122"/>
                <a:cs typeface="Inter SemiBold" pitchFamily="34" charset="-120"/>
              </a:rPr>
              <a:t>Provenance</a:t>
            </a:r>
            <a:endParaRPr lang="en-US" sz="1000" dirty="0"/>
          </a:p>
        </p:txBody>
      </p:sp>
      <p:sp>
        <p:nvSpPr>
          <p:cNvPr id="22" name="Text 18"/>
          <p:cNvSpPr/>
          <p:nvPr/>
        </p:nvSpPr>
        <p:spPr>
          <a:xfrm>
            <a:off x="6950869" y="1843088"/>
            <a:ext cx="1585913" cy="600075"/>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8D8D8D"/>
                </a:solidFill>
                <a:latin typeface="Inter" pitchFamily="34" charset="0"/>
                <a:ea typeface="Inter" pitchFamily="34" charset="-122"/>
                <a:cs typeface="Inter" pitchFamily="34" charset="-120"/>
              </a:rPr>
              <a:t>Tamper-evident SHA-256 hash-chained decision records. Cryptographically verifiable audit trail.</a:t>
            </a:r>
            <a:endParaRPr lang="en-US" sz="750" dirty="0"/>
          </a:p>
        </p:txBody>
      </p:sp>
      <p:sp>
        <p:nvSpPr>
          <p:cNvPr id="23" name="Text 19"/>
          <p:cNvSpPr/>
          <p:nvPr/>
        </p:nvSpPr>
        <p:spPr>
          <a:xfrm>
            <a:off x="428625" y="3411141"/>
            <a:ext cx="1943100" cy="335756"/>
          </a:xfrm>
          <a:prstGeom prst="rect">
            <a:avLst/>
          </a:prstGeom>
          <a:noFill/>
          <a:ln/>
        </p:spPr>
        <p:txBody>
          <a:bodyPr wrap="square" lIns="170053" tIns="102108" rIns="170053" bIns="102108" rtlCol="0" anchor="ctr">
            <a:spAutoFit/>
          </a:bodyPr>
          <a:lstStyle/>
          <a:p>
            <a:pPr marL="0" indent="0" algn="ctr">
              <a:lnSpc>
                <a:spcPct val="120000"/>
              </a:lnSpc>
              <a:buNone/>
            </a:pPr>
            <a:r>
              <a:rPr lang="en-US" sz="750" dirty="0">
                <a:solidFill>
                  <a:srgbClr val="24A148"/>
                </a:solidFill>
                <a:latin typeface="IBM Plex Mono" pitchFamily="34" charset="0"/>
                <a:ea typeface="IBM Plex Mono" pitchFamily="34" charset="-122"/>
                <a:cs typeface="IBM Plex Mono" pitchFamily="34" charset="-120"/>
              </a:rPr>
              <a:t>ALLOW</a:t>
            </a:r>
            <a:endParaRPr lang="en-US" sz="750" dirty="0"/>
          </a:p>
        </p:txBody>
      </p:sp>
      <p:sp>
        <p:nvSpPr>
          <p:cNvPr id="24" name="Text 20"/>
          <p:cNvSpPr/>
          <p:nvPr/>
        </p:nvSpPr>
        <p:spPr>
          <a:xfrm>
            <a:off x="428625" y="3861197"/>
            <a:ext cx="1943100" cy="228600"/>
          </a:xfrm>
          <a:prstGeom prst="rect">
            <a:avLst/>
          </a:prstGeom>
          <a:noFill/>
          <a:ln/>
        </p:spPr>
        <p:txBody>
          <a:bodyPr wrap="square" lIns="0" tIns="0" rIns="0" bIns="0" rtlCol="0" anchor="t">
            <a:spAutoFit/>
          </a:bodyPr>
          <a:lstStyle/>
          <a:p>
            <a:pPr marL="0" indent="0" algn="ctr">
              <a:lnSpc>
                <a:spcPct val="106667"/>
              </a:lnSpc>
              <a:buNone/>
            </a:pPr>
            <a:r>
              <a:rPr lang="en-US" sz="600" dirty="0">
                <a:solidFill>
                  <a:srgbClr val="F4F4F4"/>
                </a:solidFill>
                <a:latin typeface="Inter" pitchFamily="34" charset="0"/>
                <a:ea typeface="Inter" pitchFamily="34" charset="-122"/>
                <a:cs typeface="Inter" pitchFamily="34" charset="-120"/>
              </a:rPr>
              <a:t>Claim verified.
Safe to install.</a:t>
            </a:r>
            <a:endParaRPr lang="en-US" sz="600" dirty="0"/>
          </a:p>
        </p:txBody>
      </p:sp>
      <p:sp>
        <p:nvSpPr>
          <p:cNvPr id="25" name="Text 21"/>
          <p:cNvSpPr/>
          <p:nvPr/>
        </p:nvSpPr>
        <p:spPr>
          <a:xfrm>
            <a:off x="2543175" y="3411141"/>
            <a:ext cx="1943100" cy="335756"/>
          </a:xfrm>
          <a:prstGeom prst="rect">
            <a:avLst/>
          </a:prstGeom>
          <a:noFill/>
          <a:ln/>
        </p:spPr>
        <p:txBody>
          <a:bodyPr wrap="square" lIns="170053" tIns="102108" rIns="170053" bIns="102108" rtlCol="0" anchor="ctr">
            <a:spAutoFit/>
          </a:bodyPr>
          <a:lstStyle/>
          <a:p>
            <a:pPr marL="0" indent="0" algn="ctr">
              <a:lnSpc>
                <a:spcPct val="120000"/>
              </a:lnSpc>
              <a:buNone/>
            </a:pPr>
            <a:r>
              <a:rPr lang="en-US" sz="750" dirty="0">
                <a:solidFill>
                  <a:srgbClr val="F1C21B"/>
                </a:solidFill>
                <a:latin typeface="IBM Plex Mono" pitchFamily="34" charset="0"/>
                <a:ea typeface="IBM Plex Mono" pitchFamily="34" charset="-122"/>
                <a:cs typeface="IBM Plex Mono" pitchFamily="34" charset="-120"/>
              </a:rPr>
              <a:t>WARN</a:t>
            </a:r>
            <a:endParaRPr lang="en-US" sz="750" dirty="0"/>
          </a:p>
        </p:txBody>
      </p:sp>
      <p:sp>
        <p:nvSpPr>
          <p:cNvPr id="26" name="Text 22"/>
          <p:cNvSpPr/>
          <p:nvPr/>
        </p:nvSpPr>
        <p:spPr>
          <a:xfrm>
            <a:off x="2543175" y="3861197"/>
            <a:ext cx="1943100" cy="228600"/>
          </a:xfrm>
          <a:prstGeom prst="rect">
            <a:avLst/>
          </a:prstGeom>
          <a:noFill/>
          <a:ln/>
        </p:spPr>
        <p:txBody>
          <a:bodyPr wrap="square" lIns="0" tIns="0" rIns="0" bIns="0" rtlCol="0" anchor="t">
            <a:spAutoFit/>
          </a:bodyPr>
          <a:lstStyle/>
          <a:p>
            <a:pPr marL="0" indent="0" algn="ctr">
              <a:lnSpc>
                <a:spcPct val="106667"/>
              </a:lnSpc>
              <a:buNone/>
            </a:pPr>
            <a:r>
              <a:rPr lang="en-US" sz="600" dirty="0">
                <a:solidFill>
                  <a:srgbClr val="F4F4F4"/>
                </a:solidFill>
                <a:latin typeface="Inter" pitchFamily="34" charset="0"/>
                <a:ea typeface="Inter" pitchFamily="34" charset="-122"/>
                <a:cs typeface="Inter" pitchFamily="34" charset="-120"/>
              </a:rPr>
              <a:t>Claim verified.
Risk signals detected.</a:t>
            </a:r>
            <a:endParaRPr lang="en-US" sz="600" dirty="0"/>
          </a:p>
        </p:txBody>
      </p:sp>
      <p:sp>
        <p:nvSpPr>
          <p:cNvPr id="27" name="Shape 23"/>
          <p:cNvSpPr/>
          <p:nvPr/>
        </p:nvSpPr>
        <p:spPr>
          <a:xfrm>
            <a:off x="4657725" y="3411141"/>
            <a:ext cx="1943100" cy="335756"/>
          </a:xfrm>
          <a:prstGeom prst="rect">
            <a:avLst/>
          </a:prstGeom>
          <a:solidFill>
            <a:srgbClr val="DA1E28">
              <a:alpha val="6000"/>
            </a:srgbClr>
          </a:solidFill>
          <a:ln w="9144">
            <a:solidFill>
              <a:srgbClr val="DA1E28"/>
            </a:solidFill>
            <a:prstDash val="solid"/>
          </a:ln>
        </p:spPr>
      </p:sp>
      <p:sp>
        <p:nvSpPr>
          <p:cNvPr id="28" name="Text 24"/>
          <p:cNvSpPr/>
          <p:nvPr/>
        </p:nvSpPr>
        <p:spPr>
          <a:xfrm>
            <a:off x="4657725" y="3411141"/>
            <a:ext cx="1943100" cy="335756"/>
          </a:xfrm>
          <a:prstGeom prst="rect">
            <a:avLst/>
          </a:prstGeom>
          <a:noFill/>
          <a:ln/>
        </p:spPr>
        <p:txBody>
          <a:bodyPr wrap="square" lIns="170053" tIns="102108" rIns="170053" bIns="102108" rtlCol="0" anchor="ctr">
            <a:spAutoFit/>
          </a:bodyPr>
          <a:lstStyle/>
          <a:p>
            <a:pPr marL="0" indent="0" algn="ctr">
              <a:lnSpc>
                <a:spcPct val="120000"/>
              </a:lnSpc>
              <a:buNone/>
            </a:pPr>
            <a:r>
              <a:rPr lang="en-US" sz="750" dirty="0">
                <a:solidFill>
                  <a:srgbClr val="DA1E28"/>
                </a:solidFill>
                <a:latin typeface="IBM Plex Mono" pitchFamily="34" charset="0"/>
                <a:ea typeface="IBM Plex Mono" pitchFamily="34" charset="-122"/>
                <a:cs typeface="IBM Plex Mono" pitchFamily="34" charset="-120"/>
              </a:rPr>
              <a:t>BLOCK</a:t>
            </a:r>
            <a:endParaRPr lang="en-US" sz="750" dirty="0"/>
          </a:p>
        </p:txBody>
      </p:sp>
      <p:sp>
        <p:nvSpPr>
          <p:cNvPr id="29" name="Text 25"/>
          <p:cNvSpPr/>
          <p:nvPr/>
        </p:nvSpPr>
        <p:spPr>
          <a:xfrm>
            <a:off x="4657725" y="3846909"/>
            <a:ext cx="1943100" cy="228600"/>
          </a:xfrm>
          <a:prstGeom prst="rect">
            <a:avLst/>
          </a:prstGeom>
          <a:noFill/>
          <a:ln/>
        </p:spPr>
        <p:txBody>
          <a:bodyPr wrap="square" lIns="0" tIns="0" rIns="0" bIns="0" rtlCol="0" anchor="t">
            <a:spAutoFit/>
          </a:bodyPr>
          <a:lstStyle/>
          <a:p>
            <a:pPr marL="0" indent="0" algn="ctr">
              <a:lnSpc>
                <a:spcPct val="106667"/>
              </a:lnSpc>
              <a:buNone/>
            </a:pPr>
            <a:r>
              <a:rPr lang="en-US" sz="600" dirty="0">
                <a:solidFill>
                  <a:srgbClr val="F4F4F4"/>
                </a:solidFill>
                <a:latin typeface="Inter" pitchFamily="34" charset="0"/>
                <a:ea typeface="Inter" pitchFamily="34" charset="-122"/>
                <a:cs typeface="Inter" pitchFamily="34" charset="-120"/>
              </a:rPr>
              <a:t>Hallucination proven.
Halts execution.</a:t>
            </a:r>
            <a:endParaRPr lang="en-US" sz="600" dirty="0"/>
          </a:p>
        </p:txBody>
      </p:sp>
      <p:sp>
        <p:nvSpPr>
          <p:cNvPr id="30" name="Text 26"/>
          <p:cNvSpPr/>
          <p:nvPr/>
        </p:nvSpPr>
        <p:spPr>
          <a:xfrm>
            <a:off x="6772275" y="3411141"/>
            <a:ext cx="1943100" cy="335756"/>
          </a:xfrm>
          <a:prstGeom prst="rect">
            <a:avLst/>
          </a:prstGeom>
          <a:noFill/>
          <a:ln/>
        </p:spPr>
        <p:txBody>
          <a:bodyPr wrap="square" lIns="170053" tIns="102108" rIns="170053" bIns="102108" rtlCol="0" anchor="ctr">
            <a:spAutoFit/>
          </a:bodyPr>
          <a:lstStyle/>
          <a:p>
            <a:pPr marL="0" indent="0" algn="ctr">
              <a:lnSpc>
                <a:spcPct val="120000"/>
              </a:lnSpc>
              <a:buNone/>
            </a:pPr>
            <a:r>
              <a:rPr lang="en-US" sz="750" dirty="0">
                <a:solidFill>
                  <a:srgbClr val="F4F4F4"/>
                </a:solidFill>
                <a:latin typeface="IBM Plex Mono" pitchFamily="34" charset="0"/>
                <a:ea typeface="IBM Plex Mono" pitchFamily="34" charset="-122"/>
                <a:cs typeface="IBM Plex Mono" pitchFamily="34" charset="-120"/>
              </a:rPr>
              <a:t>UNVERIFIED</a:t>
            </a:r>
            <a:endParaRPr lang="en-US" sz="750" dirty="0"/>
          </a:p>
        </p:txBody>
      </p:sp>
      <p:sp>
        <p:nvSpPr>
          <p:cNvPr id="31" name="Text 27"/>
          <p:cNvSpPr/>
          <p:nvPr/>
        </p:nvSpPr>
        <p:spPr>
          <a:xfrm>
            <a:off x="6772275" y="3861197"/>
            <a:ext cx="1943100" cy="228600"/>
          </a:xfrm>
          <a:prstGeom prst="rect">
            <a:avLst/>
          </a:prstGeom>
          <a:noFill/>
          <a:ln/>
        </p:spPr>
        <p:txBody>
          <a:bodyPr wrap="square" lIns="0" tIns="0" rIns="0" bIns="0" rtlCol="0" anchor="t">
            <a:spAutoFit/>
          </a:bodyPr>
          <a:lstStyle/>
          <a:p>
            <a:pPr marL="0" indent="0" algn="ctr">
              <a:lnSpc>
                <a:spcPct val="106667"/>
              </a:lnSpc>
              <a:buNone/>
            </a:pPr>
            <a:r>
              <a:rPr lang="en-US" sz="600" dirty="0">
                <a:solidFill>
                  <a:srgbClr val="F4F4F4"/>
                </a:solidFill>
                <a:latin typeface="Inter" pitchFamily="34" charset="0"/>
                <a:ea typeface="Inter" pitchFamily="34" charset="-122"/>
                <a:cs typeface="Inter" pitchFamily="34" charset="-120"/>
              </a:rPr>
              <a:t>Network/Parsing fail.
Fails closed.</a:t>
            </a:r>
            <a:endParaRPr lang="en-US" sz="600" dirty="0"/>
          </a:p>
        </p:txBody>
      </p:sp>
      <p:sp>
        <p:nvSpPr>
          <p:cNvPr id="32" name="Text 28"/>
          <p:cNvSpPr/>
          <p:nvPr/>
        </p:nvSpPr>
        <p:spPr>
          <a:xfrm>
            <a:off x="428625" y="4586288"/>
            <a:ext cx="1800225"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[ARCH: DETERMINISTIC_POLICY_ENGINE]</a:t>
            </a:r>
            <a:endParaRPr lang="en-US" sz="600" dirty="0"/>
          </a:p>
        </p:txBody>
      </p:sp>
      <p:sp>
        <p:nvSpPr>
          <p:cNvPr id="33" name="Text 29"/>
          <p:cNvSpPr/>
          <p:nvPr/>
        </p:nvSpPr>
        <p:spPr>
          <a:xfrm>
            <a:off x="6246484" y="4586288"/>
            <a:ext cx="2468891"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DOCS/ARCHITECTURE.MD / SRC/ENGINE/POLICY.TS</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00025" y="200025"/>
            <a:ext cx="8743950" cy="179989"/>
          </a:xfrm>
          <a:prstGeom prst="rect">
            <a:avLst/>
          </a:prstGeom>
          <a:noFill/>
          <a:ln/>
        </p:spPr>
        <p:txBody>
          <a:bodyPr wrap="none" lIns="0" tIns="0" rIns="0" bIns="0" rtlCol="0" anchor="t">
            <a:spAutoFit/>
          </a:bodyPr>
          <a:lstStyle/>
          <a:p>
            <a:pPr marL="0" indent="0" algn="l">
              <a:lnSpc>
                <a:spcPct val="84000"/>
              </a:lnSpc>
              <a:buNone/>
            </a:pPr>
            <a:r>
              <a:rPr lang="en-US" sz="1200" b="1" dirty="0">
                <a:solidFill>
                  <a:srgbClr val="F4F4F4"/>
                </a:solidFill>
                <a:latin typeface="IBM Plex Sans SemiBold" pitchFamily="34" charset="0"/>
                <a:ea typeface="IBM Plex Sans SemiBold" pitchFamily="34" charset="-122"/>
                <a:cs typeface="IBM Plex Sans SemiBold" pitchFamily="34" charset="-120"/>
              </a:rPr>
              <a:t>Proof: </a:t>
            </a:r>
            <a:r>
              <a:rPr lang="en-US" sz="1200" b="1" dirty="0">
                <a:solidFill>
                  <a:srgbClr val="DA1E28"/>
                </a:solidFill>
                <a:latin typeface="IBM Plex Sans SemiBold" pitchFamily="34" charset="0"/>
                <a:ea typeface="IBM Plex Sans SemiBold" pitchFamily="34" charset="-122"/>
                <a:cs typeface="IBM Plex Sans SemiBold" pitchFamily="34" charset="-120"/>
              </a:rPr>
              <a:t>BLOCK</a:t>
            </a:r>
            <a:r>
              <a:rPr lang="en-US" sz="1200" b="1" dirty="0">
                <a:solidFill>
                  <a:srgbClr val="F4F4F4"/>
                </a:solidFill>
                <a:latin typeface="IBM Plex Sans SemiBold" pitchFamily="34" charset="0"/>
                <a:ea typeface="IBM Plex Sans SemiBold" pitchFamily="34" charset="-122"/>
                <a:cs typeface="IBM Plex Sans SemiBold" pitchFamily="34" charset="-120"/>
              </a:rPr>
              <a:t> before npm runs</a:t>
            </a:r>
            <a:endParaRPr lang="en-US" sz="1200" dirty="0"/>
          </a:p>
        </p:txBody>
      </p:sp>
      <p:sp>
        <p:nvSpPr>
          <p:cNvPr id="5" name="Shape 1"/>
          <p:cNvSpPr/>
          <p:nvPr/>
        </p:nvSpPr>
        <p:spPr>
          <a:xfrm>
            <a:off x="200025" y="494314"/>
            <a:ext cx="8743950" cy="2571750"/>
          </a:xfrm>
          <a:prstGeom prst="rect">
            <a:avLst/>
          </a:prstGeom>
          <a:solidFill>
            <a:srgbClr val="262626"/>
          </a:solidFill>
          <a:ln/>
        </p:spPr>
      </p:sp>
      <p:sp>
        <p:nvSpPr>
          <p:cNvPr id="6" name="Shape 2"/>
          <p:cNvSpPr/>
          <p:nvPr/>
        </p:nvSpPr>
        <p:spPr>
          <a:xfrm>
            <a:off x="200025" y="494314"/>
            <a:ext cx="8743950" cy="7144"/>
          </a:xfrm>
          <a:prstGeom prst="rect">
            <a:avLst/>
          </a:prstGeom>
          <a:solidFill>
            <a:srgbClr val="393939"/>
          </a:solidFill>
          <a:ln/>
        </p:spPr>
      </p:sp>
      <p:sp>
        <p:nvSpPr>
          <p:cNvPr id="7" name="Shape 3"/>
          <p:cNvSpPr/>
          <p:nvPr/>
        </p:nvSpPr>
        <p:spPr>
          <a:xfrm>
            <a:off x="8936831" y="494314"/>
            <a:ext cx="7144" cy="2571750"/>
          </a:xfrm>
          <a:prstGeom prst="rect">
            <a:avLst/>
          </a:prstGeom>
          <a:solidFill>
            <a:srgbClr val="393939"/>
          </a:solidFill>
          <a:ln/>
        </p:spPr>
      </p:sp>
      <p:sp>
        <p:nvSpPr>
          <p:cNvPr id="8" name="Shape 4"/>
          <p:cNvSpPr/>
          <p:nvPr/>
        </p:nvSpPr>
        <p:spPr>
          <a:xfrm>
            <a:off x="200025" y="3058920"/>
            <a:ext cx="8743950" cy="7144"/>
          </a:xfrm>
          <a:prstGeom prst="rect">
            <a:avLst/>
          </a:prstGeom>
          <a:solidFill>
            <a:srgbClr val="393939"/>
          </a:solidFill>
          <a:ln/>
        </p:spPr>
      </p:sp>
      <p:sp>
        <p:nvSpPr>
          <p:cNvPr id="9" name="Shape 5"/>
          <p:cNvSpPr/>
          <p:nvPr/>
        </p:nvSpPr>
        <p:spPr>
          <a:xfrm>
            <a:off x="200025" y="494314"/>
            <a:ext cx="28575" cy="2571750"/>
          </a:xfrm>
          <a:prstGeom prst="rect">
            <a:avLst/>
          </a:prstGeom>
          <a:solidFill>
            <a:srgbClr val="DA1E28"/>
          </a:solidFill>
          <a:ln/>
        </p:spPr>
      </p:sp>
      <p:sp>
        <p:nvSpPr>
          <p:cNvPr id="10" name="Text 6"/>
          <p:cNvSpPr/>
          <p:nvPr/>
        </p:nvSpPr>
        <p:spPr>
          <a:xfrm>
            <a:off x="328613" y="622902"/>
            <a:ext cx="8486775" cy="217884"/>
          </a:xfrm>
          <a:prstGeom prst="rect">
            <a:avLst/>
          </a:prstGeom>
          <a:noFill/>
          <a:ln/>
        </p:spPr>
        <p:txBody>
          <a:bodyPr wrap="square" lIns="0" tIns="0" rIns="0" bIns="85090" rtlCol="0" anchor="t">
            <a:spAutoFit/>
          </a:bodyPr>
          <a:lstStyle/>
          <a:p>
            <a:pPr marL="0" indent="0" algn="l">
              <a:lnSpc>
                <a:spcPct val="120000"/>
              </a:lnSpc>
              <a:buNone/>
            </a:pPr>
            <a:r>
              <a:rPr lang="en-US" sz="650" dirty="0">
                <a:solidFill>
                  <a:srgbClr val="8D8D8D"/>
                </a:solidFill>
                <a:latin typeface="IBM Plex Mono" pitchFamily="34" charset="0"/>
                <a:ea typeface="IBM Plex Mono" pitchFamily="34" charset="-122"/>
                <a:cs typeface="IBM Plex Mono" pitchFamily="34" charset="-120"/>
              </a:rPr>
              <a:t>phantomdeps check is-odd@3.0.1 --symbols isOddBatch</a:t>
            </a:r>
            <a:endParaRPr lang="en-US" sz="650" dirty="0"/>
          </a:p>
        </p:txBody>
      </p:sp>
      <p:sp>
        <p:nvSpPr>
          <p:cNvPr id="11" name="Text 7"/>
          <p:cNvSpPr/>
          <p:nvPr/>
        </p:nvSpPr>
        <p:spPr>
          <a:xfrm>
            <a:off x="328613" y="922939"/>
            <a:ext cx="910828" cy="132159"/>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DA1E28"/>
                </a:solidFill>
                <a:latin typeface="IBM Plex Mono" pitchFamily="34" charset="0"/>
                <a:ea typeface="IBM Plex Mono" pitchFamily="34" charset="-122"/>
                <a:cs typeface="IBM Plex Mono" pitchFamily="34" charset="-120"/>
              </a:rPr>
              <a:t>[VERDICT] BLOCK</a:t>
            </a:r>
            <a:endParaRPr lang="en-US" sz="750" dirty="0"/>
          </a:p>
        </p:txBody>
      </p:sp>
      <p:sp>
        <p:nvSpPr>
          <p:cNvPr id="12" name="Text 8"/>
          <p:cNvSpPr/>
          <p:nvPr/>
        </p:nvSpPr>
        <p:spPr>
          <a:xfrm>
            <a:off x="328613" y="1127931"/>
            <a:ext cx="8486775" cy="129983"/>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F4F4F4"/>
                </a:solidFill>
                <a:latin typeface="IBM Plex Mono" pitchFamily="34" charset="0"/>
                <a:ea typeface="IBM Plex Mono" pitchFamily="34" charset="-122"/>
                <a:cs typeface="IBM Plex Mono" pitchFamily="34" charset="-120"/>
              </a:rPr>
              <a:t>Package: </a:t>
            </a:r>
            <a:r>
              <a:rPr lang="en-US" sz="700" b="1" dirty="0">
                <a:solidFill>
                  <a:srgbClr val="F4F4F4"/>
                </a:solidFill>
                <a:latin typeface="IBM Plex Mono Bold" pitchFamily="34" charset="0"/>
                <a:ea typeface="IBM Plex Mono Bold" pitchFamily="34" charset="-122"/>
                <a:cs typeface="IBM Plex Mono Bold" pitchFamily="34" charset="-120"/>
              </a:rPr>
              <a:t>is-odd@3.0.1</a:t>
            </a:r>
            <a:endParaRPr lang="en-US" sz="750" dirty="0"/>
          </a:p>
        </p:txBody>
      </p:sp>
      <p:sp>
        <p:nvSpPr>
          <p:cNvPr id="13" name="Text 9"/>
          <p:cNvSpPr/>
          <p:nvPr/>
        </p:nvSpPr>
        <p:spPr>
          <a:xfrm>
            <a:off x="328613" y="1329351"/>
            <a:ext cx="8486775" cy="129983"/>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F4F4F4"/>
                </a:solidFill>
                <a:latin typeface="IBM Plex Mono" pitchFamily="34" charset="0"/>
                <a:ea typeface="IBM Plex Mono" pitchFamily="34" charset="-122"/>
                <a:cs typeface="IBM Plex Mono" pitchFamily="34" charset="-120"/>
              </a:rPr>
              <a:t>Integrity: </a:t>
            </a:r>
            <a:r>
              <a:rPr lang="en-US" sz="700" b="1" dirty="0">
                <a:solidFill>
                  <a:srgbClr val="F4F4F4"/>
                </a:solidFill>
                <a:latin typeface="IBM Plex Mono Bold" pitchFamily="34" charset="0"/>
                <a:ea typeface="IBM Plex Mono Bold" pitchFamily="34" charset="-122"/>
                <a:cs typeface="IBM Plex Mono Bold" pitchFamily="34" charset="-120"/>
              </a:rPr>
              <a:t>sha512-Vvk2j... (VERIFIED)</a:t>
            </a:r>
            <a:endParaRPr lang="en-US" sz="750" dirty="0"/>
          </a:p>
        </p:txBody>
      </p:sp>
      <p:sp>
        <p:nvSpPr>
          <p:cNvPr id="14" name="Text 10"/>
          <p:cNvSpPr/>
          <p:nvPr/>
        </p:nvSpPr>
        <p:spPr>
          <a:xfrm>
            <a:off x="328613" y="1530772"/>
            <a:ext cx="8486775" cy="129983"/>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F4F4F4"/>
                </a:solidFill>
                <a:latin typeface="IBM Plex Mono" pitchFamily="34" charset="0"/>
                <a:ea typeface="IBM Plex Mono" pitchFamily="34" charset="-122"/>
                <a:cs typeface="IBM Plex Mono" pitchFamily="34" charset="-120"/>
              </a:rPr>
              <a:t>Claimed symbol: </a:t>
            </a:r>
            <a:r>
              <a:rPr lang="en-US" sz="750" dirty="0">
                <a:solidFill>
                  <a:srgbClr val="DA1E28"/>
                </a:solidFill>
                <a:latin typeface="IBM Plex Mono" pitchFamily="34" charset="0"/>
                <a:ea typeface="IBM Plex Mono" pitchFamily="34" charset="-122"/>
                <a:cs typeface="IBM Plex Mono" pitchFamily="34" charset="-120"/>
              </a:rPr>
              <a:t>isOddBatch</a:t>
            </a:r>
            <a:endParaRPr lang="en-US" sz="750" dirty="0"/>
          </a:p>
        </p:txBody>
      </p:sp>
      <p:sp>
        <p:nvSpPr>
          <p:cNvPr id="15" name="Text 11"/>
          <p:cNvSpPr/>
          <p:nvPr/>
        </p:nvSpPr>
        <p:spPr>
          <a:xfrm>
            <a:off x="328613" y="1732192"/>
            <a:ext cx="8486775" cy="129983"/>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F4F4F4"/>
                </a:solidFill>
                <a:latin typeface="IBM Plex Mono" pitchFamily="34" charset="0"/>
                <a:ea typeface="IBM Plex Mono" pitchFamily="34" charset="-122"/>
                <a:cs typeface="IBM Plex Mono" pitchFamily="34" charset="-120"/>
              </a:rPr>
              <a:t>Finding: </a:t>
            </a:r>
            <a:r>
              <a:rPr lang="en-US" sz="750" dirty="0">
                <a:solidFill>
                  <a:srgbClr val="0F62FE"/>
                </a:solidFill>
                <a:latin typeface="IBM Plex Mono" pitchFamily="34" charset="0"/>
                <a:ea typeface="IBM Plex Mono" pitchFamily="34" charset="-122"/>
                <a:cs typeface="IBM Plex Mono" pitchFamily="34" charset="-120"/>
              </a:rPr>
              <a:t>l2.symbol_missing</a:t>
            </a:r>
            <a:r>
              <a:rPr lang="en-US" sz="750" dirty="0">
                <a:solidFill>
                  <a:srgbClr val="F4F4F4"/>
                </a:solidFill>
                <a:latin typeface="IBM Plex Mono" pitchFamily="34" charset="0"/>
                <a:ea typeface="IBM Plex Mono" pitchFamily="34" charset="-122"/>
                <a:cs typeface="IBM Plex Mono" pitchFamily="34" charset="-120"/>
              </a:rPr>
              <a:t> — Static API check failed.</a:t>
            </a:r>
            <a:endParaRPr lang="en-US" sz="750" dirty="0"/>
          </a:p>
        </p:txBody>
      </p:sp>
      <p:sp>
        <p:nvSpPr>
          <p:cNvPr id="16" name="Text 12"/>
          <p:cNvSpPr/>
          <p:nvPr/>
        </p:nvSpPr>
        <p:spPr>
          <a:xfrm>
            <a:off x="328613" y="1933612"/>
            <a:ext cx="8486775" cy="129983"/>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B3B3B3"/>
                </a:solidFill>
                <a:latin typeface="IBM Plex Mono" pitchFamily="34" charset="0"/>
                <a:ea typeface="IBM Plex Mono" pitchFamily="34" charset="-122"/>
                <a:cs typeface="IBM Plex Mono" pitchFamily="34" charset="-120"/>
              </a:rPr>
              <a:t>The package 'is-odd@3.0.1' exists, but its exports mapping and symbol table do not contain 'isOddBatch'.</a:t>
            </a:r>
            <a:endParaRPr lang="en-US" sz="750" dirty="0"/>
          </a:p>
        </p:txBody>
      </p:sp>
      <p:sp>
        <p:nvSpPr>
          <p:cNvPr id="17" name="Text 13"/>
          <p:cNvSpPr/>
          <p:nvPr/>
        </p:nvSpPr>
        <p:spPr>
          <a:xfrm>
            <a:off x="328613" y="2135032"/>
            <a:ext cx="8486775" cy="129983"/>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FFFFFF"/>
                </a:solidFill>
                <a:latin typeface="IBM Plex Mono" pitchFamily="34" charset="0"/>
                <a:ea typeface="IBM Plex Mono" pitchFamily="34" charset="-122"/>
                <a:cs typeface="IBM Plex Mono" pitchFamily="34" charset="-120"/>
              </a:rPr>
              <a:t>No package was installed. No code was executed.</a:t>
            </a:r>
            <a:endParaRPr lang="en-US" sz="750" dirty="0"/>
          </a:p>
        </p:txBody>
      </p:sp>
      <p:sp>
        <p:nvSpPr>
          <p:cNvPr id="18" name="Text 14"/>
          <p:cNvSpPr/>
          <p:nvPr/>
        </p:nvSpPr>
        <p:spPr>
          <a:xfrm>
            <a:off x="328613" y="2808889"/>
            <a:ext cx="8486775"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Source: Fixture 'is-odd-demo' (2025-09-20) | SHA-256 Digest: verified</a:t>
            </a:r>
            <a:endParaRPr lang="en-US" sz="600" dirty="0"/>
          </a:p>
        </p:txBody>
      </p:sp>
      <p:sp>
        <p:nvSpPr>
          <p:cNvPr id="19" name="Text 15"/>
          <p:cNvSpPr/>
          <p:nvPr/>
        </p:nvSpPr>
        <p:spPr>
          <a:xfrm>
            <a:off x="200025" y="3237514"/>
            <a:ext cx="2838413" cy="128588"/>
          </a:xfrm>
          <a:prstGeom prst="rect">
            <a:avLst/>
          </a:prstGeom>
          <a:noFill/>
          <a:ln/>
        </p:spPr>
        <p:txBody>
          <a:bodyPr wrap="none" lIns="0" tIns="0" rIns="0" bIns="0" rtlCol="0" anchor="t">
            <a:spAutoFit/>
          </a:bodyPr>
          <a:lstStyle/>
          <a:p>
            <a:pPr marL="0" indent="0" algn="l">
              <a:lnSpc>
                <a:spcPct val="120000"/>
              </a:lnSpc>
              <a:buNone/>
            </a:pPr>
            <a:r>
              <a:rPr lang="en-US" sz="600" b="1" kern="0" spc="1" dirty="0">
                <a:solidFill>
                  <a:srgbClr val="F4F4F4">
                    <a:alpha val="65000"/>
                  </a:srgbClr>
                </a:solidFill>
                <a:latin typeface="Inter SemiBold" pitchFamily="34" charset="0"/>
                <a:ea typeface="Inter SemiBold" pitchFamily="34" charset="-122"/>
                <a:cs typeface="Inter SemiBold" pitchFamily="34" charset="-120"/>
              </a:rPr>
              <a:t>L1 IDENTITY</a:t>
            </a:r>
            <a:endParaRPr lang="en-US" sz="600" dirty="0"/>
          </a:p>
        </p:txBody>
      </p:sp>
      <p:sp>
        <p:nvSpPr>
          <p:cNvPr id="20" name="Text 16"/>
          <p:cNvSpPr/>
          <p:nvPr/>
        </p:nvSpPr>
        <p:spPr>
          <a:xfrm>
            <a:off x="200025" y="3408964"/>
            <a:ext cx="2838413" cy="128588"/>
          </a:xfrm>
          <a:prstGeom prst="rect">
            <a:avLst/>
          </a:prstGeom>
          <a:noFill/>
          <a:ln/>
        </p:spPr>
        <p:txBody>
          <a:bodyPr wrap="none" lIns="0" tIns="0" rIns="0" bIns="0" rtlCol="0" anchor="t">
            <a:spAutoFit/>
          </a:bodyPr>
          <a:lstStyle/>
          <a:p>
            <a:pPr marL="0" indent="0" algn="l">
              <a:lnSpc>
                <a:spcPct val="96000"/>
              </a:lnSpc>
              <a:buNone/>
            </a:pPr>
            <a:r>
              <a:rPr lang="en-US" sz="800" dirty="0">
                <a:solidFill>
                  <a:srgbClr val="F4F4F4"/>
                </a:solidFill>
                <a:latin typeface="Inter" pitchFamily="34" charset="0"/>
                <a:ea typeface="Inter" pitchFamily="34" charset="-122"/>
                <a:cs typeface="Inter" pitchFamily="34" charset="-120"/>
              </a:rPr>
              <a:t>Confirmed </a:t>
            </a:r>
            <a:r>
              <a:rPr lang="en-US" sz="750" b="1" dirty="0">
                <a:solidFill>
                  <a:srgbClr val="F4F4F4"/>
                </a:solidFill>
                <a:latin typeface="Inter SemiBold" pitchFamily="34" charset="0"/>
                <a:ea typeface="Inter SemiBold" pitchFamily="34" charset="-122"/>
                <a:cs typeface="Inter SemiBold" pitchFamily="34" charset="-120"/>
              </a:rPr>
              <a:t>is-odd@3.0.1</a:t>
            </a:r>
            <a:r>
              <a:rPr lang="en-US" sz="800" dirty="0">
                <a:solidFill>
                  <a:srgbClr val="F4F4F4"/>
                </a:solidFill>
                <a:latin typeface="Inter" pitchFamily="34" charset="0"/>
                <a:ea typeface="Inter" pitchFamily="34" charset="-122"/>
                <a:cs typeface="Inter" pitchFamily="34" charset="-120"/>
              </a:rPr>
              <a:t> exists on npm.</a:t>
            </a:r>
            <a:endParaRPr lang="en-US" sz="800" dirty="0"/>
          </a:p>
        </p:txBody>
      </p:sp>
      <p:sp>
        <p:nvSpPr>
          <p:cNvPr id="21" name="Text 17"/>
          <p:cNvSpPr/>
          <p:nvPr/>
        </p:nvSpPr>
        <p:spPr>
          <a:xfrm>
            <a:off x="3152738" y="3237514"/>
            <a:ext cx="2838469" cy="128588"/>
          </a:xfrm>
          <a:prstGeom prst="rect">
            <a:avLst/>
          </a:prstGeom>
          <a:noFill/>
          <a:ln/>
        </p:spPr>
        <p:txBody>
          <a:bodyPr wrap="none" lIns="0" tIns="0" rIns="0" bIns="0" rtlCol="0" anchor="t">
            <a:spAutoFit/>
          </a:bodyPr>
          <a:lstStyle/>
          <a:p>
            <a:pPr marL="0" indent="0" algn="l">
              <a:lnSpc>
                <a:spcPct val="120000"/>
              </a:lnSpc>
              <a:buNone/>
            </a:pPr>
            <a:r>
              <a:rPr lang="en-US" sz="600" b="1" kern="0" spc="1" dirty="0">
                <a:solidFill>
                  <a:srgbClr val="F4F4F4">
                    <a:alpha val="65000"/>
                  </a:srgbClr>
                </a:solidFill>
                <a:latin typeface="Inter SemiBold" pitchFamily="34" charset="0"/>
                <a:ea typeface="Inter SemiBold" pitchFamily="34" charset="-122"/>
                <a:cs typeface="Inter SemiBold" pitchFamily="34" charset="-120"/>
              </a:rPr>
              <a:t>L2 CLAIM</a:t>
            </a:r>
            <a:endParaRPr lang="en-US" sz="600" dirty="0"/>
          </a:p>
        </p:txBody>
      </p:sp>
      <p:sp>
        <p:nvSpPr>
          <p:cNvPr id="22" name="Text 18"/>
          <p:cNvSpPr/>
          <p:nvPr/>
        </p:nvSpPr>
        <p:spPr>
          <a:xfrm>
            <a:off x="3152738" y="3408964"/>
            <a:ext cx="2838469" cy="128588"/>
          </a:xfrm>
          <a:prstGeom prst="rect">
            <a:avLst/>
          </a:prstGeom>
          <a:noFill/>
          <a:ln/>
        </p:spPr>
        <p:txBody>
          <a:bodyPr wrap="none" lIns="0" tIns="0" rIns="0" bIns="0" rtlCol="0" anchor="t">
            <a:spAutoFit/>
          </a:bodyPr>
          <a:lstStyle/>
          <a:p>
            <a:pPr marL="0" indent="0" algn="l">
              <a:lnSpc>
                <a:spcPct val="96000"/>
              </a:lnSpc>
              <a:buNone/>
            </a:pPr>
            <a:r>
              <a:rPr lang="en-US" sz="800" dirty="0">
                <a:solidFill>
                  <a:srgbClr val="F4F4F4"/>
                </a:solidFill>
                <a:latin typeface="Inter" pitchFamily="34" charset="0"/>
                <a:ea typeface="Inter" pitchFamily="34" charset="-122"/>
                <a:cs typeface="Inter" pitchFamily="34" charset="-120"/>
              </a:rPr>
              <a:t>AST parsing proved </a:t>
            </a:r>
            <a:r>
              <a:rPr lang="en-US" sz="750" b="1" dirty="0">
                <a:solidFill>
                  <a:srgbClr val="F4F4F4"/>
                </a:solidFill>
                <a:latin typeface="Inter SemiBold" pitchFamily="34" charset="0"/>
                <a:ea typeface="Inter SemiBold" pitchFamily="34" charset="-122"/>
                <a:cs typeface="Inter SemiBold" pitchFamily="34" charset="-120"/>
              </a:rPr>
              <a:t>isOddBatch</a:t>
            </a:r>
            <a:r>
              <a:rPr lang="en-US" sz="800" dirty="0">
                <a:solidFill>
                  <a:srgbClr val="F4F4F4"/>
                </a:solidFill>
                <a:latin typeface="Inter" pitchFamily="34" charset="0"/>
                <a:ea typeface="Inter" pitchFamily="34" charset="-122"/>
                <a:cs typeface="Inter" pitchFamily="34" charset="-120"/>
              </a:rPr>
              <a:t> is a hallucination.</a:t>
            </a:r>
            <a:endParaRPr lang="en-US" sz="800" dirty="0"/>
          </a:p>
        </p:txBody>
      </p:sp>
      <p:sp>
        <p:nvSpPr>
          <p:cNvPr id="23" name="Text 19"/>
          <p:cNvSpPr/>
          <p:nvPr/>
        </p:nvSpPr>
        <p:spPr>
          <a:xfrm>
            <a:off x="6105506" y="3237514"/>
            <a:ext cx="2838469" cy="128588"/>
          </a:xfrm>
          <a:prstGeom prst="rect">
            <a:avLst/>
          </a:prstGeom>
          <a:noFill/>
          <a:ln/>
        </p:spPr>
        <p:txBody>
          <a:bodyPr wrap="none" lIns="0" tIns="0" rIns="0" bIns="0" rtlCol="0" anchor="t">
            <a:spAutoFit/>
          </a:bodyPr>
          <a:lstStyle/>
          <a:p>
            <a:pPr marL="0" indent="0" algn="l">
              <a:lnSpc>
                <a:spcPct val="120000"/>
              </a:lnSpc>
              <a:buNone/>
            </a:pPr>
            <a:r>
              <a:rPr lang="en-US" sz="600" b="1" kern="0" spc="1" dirty="0">
                <a:solidFill>
                  <a:srgbClr val="F4F4F4">
                    <a:alpha val="65000"/>
                  </a:srgbClr>
                </a:solidFill>
                <a:latin typeface="Inter SemiBold" pitchFamily="34" charset="0"/>
                <a:ea typeface="Inter SemiBold" pitchFamily="34" charset="-122"/>
                <a:cs typeface="Inter SemiBold" pitchFamily="34" charset="-120"/>
              </a:rPr>
              <a:t>SAFETY</a:t>
            </a:r>
            <a:endParaRPr lang="en-US" sz="600" dirty="0"/>
          </a:p>
        </p:txBody>
      </p:sp>
      <p:sp>
        <p:nvSpPr>
          <p:cNvPr id="24" name="Text 20"/>
          <p:cNvSpPr/>
          <p:nvPr/>
        </p:nvSpPr>
        <p:spPr>
          <a:xfrm>
            <a:off x="6105506" y="3408964"/>
            <a:ext cx="2838469" cy="128588"/>
          </a:xfrm>
          <a:prstGeom prst="rect">
            <a:avLst/>
          </a:prstGeom>
          <a:noFill/>
          <a:ln/>
        </p:spPr>
        <p:txBody>
          <a:bodyPr wrap="none" lIns="0" tIns="0" rIns="0" bIns="0" rtlCol="0" anchor="t">
            <a:spAutoFit/>
          </a:bodyPr>
          <a:lstStyle/>
          <a:p>
            <a:pPr marL="0" indent="0" algn="l">
              <a:lnSpc>
                <a:spcPct val="96000"/>
              </a:lnSpc>
              <a:buNone/>
            </a:pPr>
            <a:r>
              <a:rPr lang="en-US" sz="800" dirty="0">
                <a:solidFill>
                  <a:srgbClr val="F4F4F4"/>
                </a:solidFill>
                <a:latin typeface="Inter" pitchFamily="34" charset="0"/>
                <a:ea typeface="Inter" pitchFamily="34" charset="-122"/>
                <a:cs typeface="Inter" pitchFamily="34" charset="-120"/>
              </a:rPr>
              <a:t>Interception occurred at </a:t>
            </a:r>
            <a:r>
              <a:rPr lang="en-US" sz="750" b="1" dirty="0">
                <a:solidFill>
                  <a:srgbClr val="F4F4F4"/>
                </a:solidFill>
                <a:latin typeface="Inter SemiBold" pitchFamily="34" charset="0"/>
                <a:ea typeface="Inter SemiBold" pitchFamily="34" charset="-122"/>
                <a:cs typeface="Inter SemiBold" pitchFamily="34" charset="-120"/>
              </a:rPr>
              <a:t>PreToolUse</a:t>
            </a:r>
            <a:r>
              <a:rPr lang="en-US" sz="800" dirty="0">
                <a:solidFill>
                  <a:srgbClr val="F4F4F4"/>
                </a:solidFill>
                <a:latin typeface="Inter" pitchFamily="34" charset="0"/>
                <a:ea typeface="Inter" pitchFamily="34" charset="-122"/>
                <a:cs typeface="Inter" pitchFamily="34" charset="-120"/>
              </a:rPr>
              <a:t> phase.</a:t>
            </a:r>
            <a:endParaRPr lang="en-US" sz="800" dirty="0"/>
          </a:p>
        </p:txBody>
      </p:sp>
      <p:sp>
        <p:nvSpPr>
          <p:cNvPr id="25" name="Text 21"/>
          <p:cNvSpPr/>
          <p:nvPr/>
        </p:nvSpPr>
        <p:spPr>
          <a:xfrm>
            <a:off x="200025" y="4194777"/>
            <a:ext cx="1400175"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[EVIDENCE: FIXTURE_RESOLVED]</a:t>
            </a:r>
            <a:endParaRPr lang="en-US" sz="600" dirty="0"/>
          </a:p>
        </p:txBody>
      </p:sp>
      <p:sp>
        <p:nvSpPr>
          <p:cNvPr id="26" name="Text 22"/>
          <p:cNvSpPr/>
          <p:nvPr/>
        </p:nvSpPr>
        <p:spPr>
          <a:xfrm>
            <a:off x="7443788" y="4194777"/>
            <a:ext cx="1500188"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TC-001 / EVAL/CORPUS.JSON</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342900"/>
          </a:xfrm>
          <a:prstGeom prst="rect">
            <a:avLst/>
          </a:prstGeom>
          <a:noFill/>
          <a:ln/>
        </p:spPr>
        <p:txBody>
          <a:bodyPr wrap="none" lIns="0" tIns="0" rIns="0" bIns="0" rtlCol="0" anchor="t">
            <a:spAutoFit/>
          </a:bodyPr>
          <a:lstStyle/>
          <a:p>
            <a:pPr marL="0" indent="0" algn="l">
              <a:lnSpc>
                <a:spcPct val="120000"/>
              </a:lnSpc>
              <a:buNone/>
            </a:pPr>
            <a:r>
              <a:rPr lang="en-US" sz="1600" b="1" dirty="0">
                <a:solidFill>
                  <a:srgbClr val="F4F4F4"/>
                </a:solidFill>
                <a:latin typeface="IBM Plex Sans SemiBold" pitchFamily="34" charset="0"/>
                <a:ea typeface="IBM Plex Sans SemiBold" pitchFamily="34" charset="-122"/>
                <a:cs typeface="IBM Plex Sans SemiBold" pitchFamily="34" charset="-120"/>
              </a:rPr>
              <a:t>Block with a reason. Recover with approval.</a:t>
            </a:r>
            <a:endParaRPr lang="en-US" sz="1600" dirty="0"/>
          </a:p>
        </p:txBody>
      </p:sp>
      <p:sp>
        <p:nvSpPr>
          <p:cNvPr id="5" name="Shape 1"/>
          <p:cNvSpPr/>
          <p:nvPr/>
        </p:nvSpPr>
        <p:spPr>
          <a:xfrm>
            <a:off x="428625" y="1057275"/>
            <a:ext cx="4286250" cy="3243263"/>
          </a:xfrm>
          <a:prstGeom prst="rect">
            <a:avLst/>
          </a:prstGeom>
          <a:solidFill>
            <a:srgbClr val="262626"/>
          </a:solidFill>
          <a:ln w="9144">
            <a:solidFill>
              <a:srgbClr val="393939"/>
            </a:solidFill>
            <a:prstDash val="solid"/>
          </a:ln>
        </p:spPr>
      </p:sp>
      <p:sp>
        <p:nvSpPr>
          <p:cNvPr id="6" name="Text 2"/>
          <p:cNvSpPr/>
          <p:nvPr/>
        </p:nvSpPr>
        <p:spPr>
          <a:xfrm>
            <a:off x="600075" y="1228725"/>
            <a:ext cx="3943350" cy="128588"/>
          </a:xfrm>
          <a:prstGeom prst="rect">
            <a:avLst/>
          </a:prstGeom>
          <a:noFill/>
          <a:ln/>
        </p:spPr>
        <p:txBody>
          <a:bodyPr wrap="none" lIns="0" tIns="0" rIns="0" bIns="0" rtlCol="0" anchor="t">
            <a:spAutoFit/>
          </a:bodyPr>
          <a:lstStyle/>
          <a:p>
            <a:pPr marL="0" indent="0" algn="l">
              <a:lnSpc>
                <a:spcPct val="120000"/>
              </a:lnSpc>
              <a:buNone/>
            </a:pPr>
            <a:r>
              <a:rPr lang="en-US" sz="600" kern="0" spc="1" dirty="0">
                <a:solidFill>
                  <a:srgbClr val="8D8D8D"/>
                </a:solidFill>
                <a:latin typeface="IBM Plex Mono" pitchFamily="34" charset="0"/>
                <a:ea typeface="IBM Plex Mono" pitchFamily="34" charset="-122"/>
                <a:cs typeface="IBM Plex Mono" pitchFamily="34" charset="-120"/>
              </a:rPr>
              <a:t>REMEDIATION CANDIDATE</a:t>
            </a:r>
            <a:endParaRPr lang="en-US" sz="600" dirty="0"/>
          </a:p>
        </p:txBody>
      </p:sp>
      <p:sp>
        <p:nvSpPr>
          <p:cNvPr id="7" name="Text 3"/>
          <p:cNvSpPr/>
          <p:nvPr/>
        </p:nvSpPr>
        <p:spPr>
          <a:xfrm>
            <a:off x="600075" y="1503759"/>
            <a:ext cx="2340304" cy="135731"/>
          </a:xfrm>
          <a:prstGeom prst="rect">
            <a:avLst/>
          </a:prstGeom>
          <a:noFill/>
          <a:ln/>
        </p:spPr>
        <p:txBody>
          <a:bodyPr wrap="none" lIns="0" tIns="0" rIns="0" bIns="0" rtlCol="0" anchor="t">
            <a:spAutoFit/>
          </a:bodyPr>
          <a:lstStyle/>
          <a:p>
            <a:pPr marL="0" indent="0" algn="l">
              <a:lnSpc>
                <a:spcPct val="114286"/>
              </a:lnSpc>
              <a:buNone/>
            </a:pPr>
            <a:r>
              <a:rPr lang="en-US" sz="750" dirty="0">
                <a:solidFill>
                  <a:srgbClr val="F4F4F4"/>
                </a:solidFill>
                <a:latin typeface="IBM Plex Mono" pitchFamily="34" charset="0"/>
                <a:ea typeface="IBM Plex Mono" pitchFamily="34" charset="-122"/>
                <a:cs typeface="IBM Plex Mono" pitchFamily="34" charset="-120"/>
              </a:rPr>
              <a:t>Static resolver suggests valid symbol:</a:t>
            </a:r>
            <a:endParaRPr lang="en-US" sz="750" dirty="0"/>
          </a:p>
        </p:txBody>
      </p:sp>
      <p:sp>
        <p:nvSpPr>
          <p:cNvPr id="8" name="Text 4"/>
          <p:cNvSpPr/>
          <p:nvPr/>
        </p:nvSpPr>
        <p:spPr>
          <a:xfrm>
            <a:off x="2940379" y="1528763"/>
            <a:ext cx="420142" cy="110728"/>
          </a:xfrm>
          <a:prstGeom prst="rect">
            <a:avLst/>
          </a:prstGeom>
          <a:noFill/>
          <a:ln/>
        </p:spPr>
        <p:txBody>
          <a:bodyPr wrap="none" lIns="0" tIns="0" rIns="0" bIns="0" rtlCol="0" anchor="t">
            <a:spAutoFit/>
          </a:bodyPr>
          <a:lstStyle/>
          <a:p>
            <a:pPr marL="0" indent="0" algn="l">
              <a:lnSpc>
                <a:spcPct val="114286"/>
              </a:lnSpc>
              <a:buNone/>
            </a:pPr>
            <a:r>
              <a:rPr lang="en-US" sz="750" dirty="0">
                <a:solidFill>
                  <a:srgbClr val="F4F4F4"/>
                </a:solidFill>
                <a:latin typeface="SFMono-Regular" pitchFamily="34" charset="0"/>
                <a:ea typeface="SFMono-Regular" pitchFamily="34" charset="-122"/>
                <a:cs typeface="SFMono-Regular" pitchFamily="34" charset="-120"/>
              </a:rPr>
              <a:t>isOdd()</a:t>
            </a:r>
            <a:endParaRPr lang="en-US" sz="750" dirty="0"/>
          </a:p>
        </p:txBody>
      </p:sp>
      <p:sp>
        <p:nvSpPr>
          <p:cNvPr id="9" name="Text 5"/>
          <p:cNvSpPr/>
          <p:nvPr/>
        </p:nvSpPr>
        <p:spPr>
          <a:xfrm>
            <a:off x="600075" y="1771650"/>
            <a:ext cx="3943350"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EF4444"/>
                </a:solidFill>
                <a:latin typeface="IBM Plex Mono" pitchFamily="34" charset="0"/>
                <a:ea typeface="IBM Plex Mono" pitchFamily="34" charset="-122"/>
                <a:cs typeface="IBM Plex Mono" pitchFamily="34" charset="-120"/>
              </a:rPr>
              <a:t>- import { isOddBatch } from 'is-odd'</a:t>
            </a:r>
            <a:r>
              <a:rPr lang="en-US" sz="850" dirty="0">
                <a:solidFill>
                  <a:srgbClr val="FFFFFF"/>
                </a:solidFill>
                <a:latin typeface="IBM Plex Mono" pitchFamily="34" charset="0"/>
                <a:ea typeface="IBM Plex Mono" pitchFamily="34" charset="-122"/>
                <a:cs typeface="IBM Plex Mono" pitchFamily="34" charset="-120"/>
              </a:rPr>
              <a:t>
</a:t>
            </a:r>
            <a:r>
              <a:rPr lang="en-US" sz="850" dirty="0">
                <a:solidFill>
                  <a:srgbClr val="22C55E"/>
                </a:solidFill>
                <a:latin typeface="IBM Plex Mono" pitchFamily="34" charset="0"/>
                <a:ea typeface="IBM Plex Mono" pitchFamily="34" charset="-122"/>
                <a:cs typeface="IBM Plex Mono" pitchFamily="34" charset="-120"/>
              </a:rPr>
              <a:t>+ import isOdd from 'is-odd'</a:t>
            </a:r>
            <a:endParaRPr lang="en-US" sz="850" dirty="0"/>
          </a:p>
        </p:txBody>
      </p:sp>
      <p:sp>
        <p:nvSpPr>
          <p:cNvPr id="10" name="Text 6"/>
          <p:cNvSpPr/>
          <p:nvPr/>
        </p:nvSpPr>
        <p:spPr>
          <a:xfrm>
            <a:off x="600075" y="2578894"/>
            <a:ext cx="3943350" cy="142875"/>
          </a:xfrm>
          <a:prstGeom prst="rect">
            <a:avLst/>
          </a:prstGeom>
          <a:noFill/>
          <a:ln/>
        </p:spPr>
        <p:txBody>
          <a:bodyPr wrap="none" lIns="0" tIns="0" rIns="0" bIns="0" rtlCol="0" anchor="t">
            <a:spAutoFit/>
          </a:bodyPr>
          <a:lstStyle/>
          <a:p>
            <a:pPr marL="0" indent="0" algn="l">
              <a:lnSpc>
                <a:spcPct val="114286"/>
              </a:lnSpc>
              <a:buNone/>
            </a:pPr>
            <a:r>
              <a:rPr lang="en-US" sz="700" b="1" dirty="0">
                <a:solidFill>
                  <a:srgbClr val="8A3FFC"/>
                </a:solidFill>
                <a:latin typeface="IBM Plex Mono Bold" pitchFamily="34" charset="0"/>
                <a:ea typeface="IBM Plex Mono Bold" pitchFamily="34" charset="-122"/>
                <a:cs typeface="IBM Plex Mono Bold" pitchFamily="34" charset="-120"/>
              </a:rPr>
              <a:t>HUMAN APPROVAL REQUIRED</a:t>
            </a:r>
            <a:endParaRPr lang="en-US" sz="700" dirty="0"/>
          </a:p>
        </p:txBody>
      </p:sp>
      <p:sp>
        <p:nvSpPr>
          <p:cNvPr id="11" name="Text 7"/>
          <p:cNvSpPr/>
          <p:nvPr/>
        </p:nvSpPr>
        <p:spPr>
          <a:xfrm>
            <a:off x="600075" y="2836069"/>
            <a:ext cx="3943350" cy="557213"/>
          </a:xfrm>
          <a:prstGeom prst="rect">
            <a:avLst/>
          </a:prstGeom>
          <a:noFill/>
          <a:ln/>
        </p:spPr>
        <p:txBody>
          <a:bodyPr wrap="square" lIns="0" tIns="0" rIns="0" bIns="0" rtlCol="0" anchor="t">
            <a:spAutoFit/>
          </a:bodyPr>
          <a:lstStyle/>
          <a:p>
            <a:pPr marL="0" indent="0" algn="l">
              <a:lnSpc>
                <a:spcPct val="130000"/>
              </a:lnSpc>
              <a:buNone/>
            </a:pPr>
            <a:r>
              <a:rPr lang="en-US" sz="850" dirty="0">
                <a:solidFill>
                  <a:srgbClr val="F4F4F4"/>
                </a:solidFill>
                <a:latin typeface="IBM Plex Mono" pitchFamily="34" charset="0"/>
                <a:ea typeface="IBM Plex Mono" pitchFamily="34" charset="-122"/>
                <a:cs typeface="IBM Plex Mono" pitchFamily="34" charset="-120"/>
              </a:rPr>
              <a:t>phantomdeps never auto-applies patches. Every repair plan requires explicit human confirmation before Bob modifies the codebase.</a:t>
            </a:r>
            <a:endParaRPr lang="en-US" sz="850" dirty="0"/>
          </a:p>
        </p:txBody>
      </p:sp>
      <p:sp>
        <p:nvSpPr>
          <p:cNvPr id="12" name="Text 8"/>
          <p:cNvSpPr/>
          <p:nvPr/>
        </p:nvSpPr>
        <p:spPr>
          <a:xfrm>
            <a:off x="5322094" y="1235869"/>
            <a:ext cx="3214688" cy="142875"/>
          </a:xfrm>
          <a:prstGeom prst="rect">
            <a:avLst/>
          </a:prstGeom>
          <a:noFill/>
          <a:ln/>
        </p:spPr>
        <p:txBody>
          <a:bodyPr wrap="none" lIns="0" tIns="0" rIns="0" bIns="0" rtlCol="0" anchor="t">
            <a:spAutoFit/>
          </a:bodyPr>
          <a:lstStyle/>
          <a:p>
            <a:pPr marL="0" indent="0" algn="l">
              <a:lnSpc>
                <a:spcPct val="114286"/>
              </a:lnSpc>
              <a:buNone/>
            </a:pPr>
            <a:r>
              <a:rPr lang="en-US" sz="750" dirty="0">
                <a:solidFill>
                  <a:srgbClr val="F4F4F4"/>
                </a:solidFill>
                <a:latin typeface="SFMono-Regular" pitchFamily="34" charset="0"/>
                <a:ea typeface="SFMono-Regular" pitchFamily="34" charset="-122"/>
                <a:cs typeface="SFMono-Regular" pitchFamily="34" charset="-120"/>
              </a:rPr>
              <a:t>RE-VERIFICATION PATH</a:t>
            </a:r>
            <a:endParaRPr lang="en-US" sz="750" dirty="0"/>
          </a:p>
        </p:txBody>
      </p:sp>
      <p:sp>
        <p:nvSpPr>
          <p:cNvPr id="13" name="Text 9"/>
          <p:cNvSpPr/>
          <p:nvPr/>
        </p:nvSpPr>
        <p:spPr>
          <a:xfrm>
            <a:off x="5322094" y="1435894"/>
            <a:ext cx="3214688" cy="200025"/>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F4F4F4"/>
                </a:solidFill>
                <a:latin typeface="Inter SemiBold" pitchFamily="34" charset="0"/>
                <a:ea typeface="Inter SemiBold" pitchFamily="34" charset="-122"/>
                <a:cs typeface="Inter SemiBold" pitchFamily="34" charset="-120"/>
              </a:rPr>
              <a:t>The </a:t>
            </a:r>
            <a:r>
              <a:rPr lang="en-US" sz="1000" b="1" dirty="0">
                <a:solidFill>
                  <a:srgbClr val="24A148"/>
                </a:solidFill>
                <a:latin typeface="Inter SemiBold" pitchFamily="34" charset="0"/>
                <a:ea typeface="Inter SemiBold" pitchFamily="34" charset="-122"/>
                <a:cs typeface="Inter SemiBold" pitchFamily="34" charset="-120"/>
              </a:rPr>
              <a:t>ALLOW</a:t>
            </a:r>
            <a:r>
              <a:rPr lang="en-US" sz="1000" b="1" dirty="0">
                <a:solidFill>
                  <a:srgbClr val="F4F4F4"/>
                </a:solidFill>
                <a:latin typeface="Inter SemiBold" pitchFamily="34" charset="0"/>
                <a:ea typeface="Inter SemiBold" pitchFamily="34" charset="-122"/>
                <a:cs typeface="Inter SemiBold" pitchFamily="34" charset="-120"/>
              </a:rPr>
              <a:t> Path</a:t>
            </a:r>
            <a:endParaRPr lang="en-US" sz="1000" dirty="0"/>
          </a:p>
        </p:txBody>
      </p:sp>
      <p:sp>
        <p:nvSpPr>
          <p:cNvPr id="14" name="Text 10"/>
          <p:cNvSpPr/>
          <p:nvPr/>
        </p:nvSpPr>
        <p:spPr>
          <a:xfrm>
            <a:off x="5322094" y="1750219"/>
            <a:ext cx="3214688" cy="812602"/>
          </a:xfrm>
          <a:prstGeom prst="rect">
            <a:avLst/>
          </a:prstGeom>
          <a:noFill/>
          <a:ln/>
        </p:spPr>
        <p:txBody>
          <a:bodyPr wrap="square" lIns="0" tIns="0" rIns="0" bIns="0" rtlCol="0" anchor="t">
            <a:spAutoFit/>
          </a:bodyPr>
          <a:lstStyle/>
          <a:p>
            <a:pPr marL="0" indent="0" algn="l">
              <a:lnSpc>
                <a:spcPct val="130000"/>
              </a:lnSpc>
              <a:buNone/>
            </a:pPr>
            <a:r>
              <a:rPr lang="en-US" sz="750" dirty="0">
                <a:solidFill>
                  <a:srgbClr val="F4F4F4"/>
                </a:solidFill>
                <a:latin typeface="SFMono-Regular" pitchFamily="34" charset="0"/>
                <a:ea typeface="SFMono-Regular" pitchFamily="34" charset="-122"/>
                <a:cs typeface="SFMono-Regular" pitchFamily="34" charset="-120"/>
              </a:rPr>
              <a:t>1. Human approves repair.
2. Bob applies patch to source.
3. Bob runs safe local build/tests.
4. Gate re-verifies install command.
5. </a:t>
            </a:r>
            <a:r>
              <a:rPr lang="en-US" sz="750" dirty="0">
                <a:solidFill>
                  <a:srgbClr val="24A148"/>
                </a:solidFill>
                <a:latin typeface="SFMono-Regular" pitchFamily="34" charset="0"/>
                <a:ea typeface="SFMono-Regular" pitchFamily="34" charset="-122"/>
                <a:cs typeface="SFMono-Regular" pitchFamily="34" charset="-120"/>
              </a:rPr>
              <a:t>ALLOW</a:t>
            </a:r>
            <a:r>
              <a:rPr lang="en-US" sz="750" dirty="0">
                <a:solidFill>
                  <a:srgbClr val="F4F4F4"/>
                </a:solidFill>
                <a:latin typeface="SFMono-Regular" pitchFamily="34" charset="0"/>
                <a:ea typeface="SFMono-Regular" pitchFamily="34" charset="-122"/>
                <a:cs typeface="SFMono-Regular" pitchFamily="34" charset="-120"/>
              </a:rPr>
              <a:t>: install proceeds.</a:t>
            </a:r>
            <a:endParaRPr lang="en-US" sz="750" dirty="0"/>
          </a:p>
        </p:txBody>
      </p:sp>
      <p:sp>
        <p:nvSpPr>
          <p:cNvPr id="15" name="Shape 11"/>
          <p:cNvSpPr/>
          <p:nvPr/>
        </p:nvSpPr>
        <p:spPr>
          <a:xfrm>
            <a:off x="5143500" y="2912864"/>
            <a:ext cx="3571875" cy="1198364"/>
          </a:xfrm>
          <a:prstGeom prst="rect">
            <a:avLst/>
          </a:prstGeom>
          <a:solidFill>
            <a:srgbClr val="0F62FE">
              <a:alpha val="10000"/>
            </a:srgbClr>
          </a:solidFill>
          <a:ln/>
        </p:spPr>
      </p:sp>
      <p:sp>
        <p:nvSpPr>
          <p:cNvPr id="16" name="Shape 12"/>
          <p:cNvSpPr/>
          <p:nvPr/>
        </p:nvSpPr>
        <p:spPr>
          <a:xfrm>
            <a:off x="5143500" y="2912864"/>
            <a:ext cx="3571875" cy="7144"/>
          </a:xfrm>
          <a:prstGeom prst="rect">
            <a:avLst/>
          </a:prstGeom>
          <a:solidFill>
            <a:srgbClr val="393939"/>
          </a:solidFill>
          <a:ln/>
        </p:spPr>
      </p:sp>
      <p:sp>
        <p:nvSpPr>
          <p:cNvPr id="17" name="Shape 13"/>
          <p:cNvSpPr/>
          <p:nvPr/>
        </p:nvSpPr>
        <p:spPr>
          <a:xfrm>
            <a:off x="8708231" y="2912864"/>
            <a:ext cx="7144" cy="1198364"/>
          </a:xfrm>
          <a:prstGeom prst="rect">
            <a:avLst/>
          </a:prstGeom>
          <a:solidFill>
            <a:srgbClr val="393939"/>
          </a:solidFill>
          <a:ln/>
        </p:spPr>
      </p:sp>
      <p:sp>
        <p:nvSpPr>
          <p:cNvPr id="18" name="Shape 14"/>
          <p:cNvSpPr/>
          <p:nvPr/>
        </p:nvSpPr>
        <p:spPr>
          <a:xfrm>
            <a:off x="5143500" y="4104084"/>
            <a:ext cx="3571875" cy="7144"/>
          </a:xfrm>
          <a:prstGeom prst="rect">
            <a:avLst/>
          </a:prstGeom>
          <a:solidFill>
            <a:srgbClr val="393939"/>
          </a:solidFill>
          <a:ln/>
        </p:spPr>
      </p:sp>
      <p:sp>
        <p:nvSpPr>
          <p:cNvPr id="19" name="Shape 15"/>
          <p:cNvSpPr/>
          <p:nvPr/>
        </p:nvSpPr>
        <p:spPr>
          <a:xfrm>
            <a:off x="5143500" y="2912864"/>
            <a:ext cx="28575" cy="1198364"/>
          </a:xfrm>
          <a:prstGeom prst="rect">
            <a:avLst/>
          </a:prstGeom>
          <a:solidFill>
            <a:srgbClr val="393939"/>
          </a:solidFill>
          <a:ln/>
        </p:spPr>
      </p:sp>
      <p:sp>
        <p:nvSpPr>
          <p:cNvPr id="20" name="Text 16"/>
          <p:cNvSpPr/>
          <p:nvPr/>
        </p:nvSpPr>
        <p:spPr>
          <a:xfrm>
            <a:off x="5314950" y="3084314"/>
            <a:ext cx="3228975" cy="142875"/>
          </a:xfrm>
          <a:prstGeom prst="rect">
            <a:avLst/>
          </a:prstGeom>
          <a:noFill/>
          <a:ln/>
        </p:spPr>
        <p:txBody>
          <a:bodyPr wrap="none" lIns="0" tIns="0" rIns="0" bIns="0" rtlCol="0" anchor="t">
            <a:spAutoFit/>
          </a:bodyPr>
          <a:lstStyle/>
          <a:p>
            <a:pPr marL="0" indent="0" algn="l">
              <a:lnSpc>
                <a:spcPct val="114286"/>
              </a:lnSpc>
              <a:buNone/>
            </a:pPr>
            <a:r>
              <a:rPr lang="en-US" sz="750" dirty="0">
                <a:solidFill>
                  <a:srgbClr val="0F62FE"/>
                </a:solidFill>
                <a:latin typeface="SFMono-Regular" pitchFamily="34" charset="0"/>
                <a:ea typeface="SFMono-Regular" pitchFamily="34" charset="-122"/>
                <a:cs typeface="SFMono-Regular" pitchFamily="34" charset="-120"/>
              </a:rPr>
              <a:t>VERIFIED OUTCOME</a:t>
            </a:r>
            <a:endParaRPr lang="en-US" sz="750" dirty="0"/>
          </a:p>
        </p:txBody>
      </p:sp>
      <p:sp>
        <p:nvSpPr>
          <p:cNvPr id="21" name="Text 17"/>
          <p:cNvSpPr/>
          <p:nvPr/>
        </p:nvSpPr>
        <p:spPr>
          <a:xfrm>
            <a:off x="5314950" y="3309342"/>
            <a:ext cx="1121569" cy="157163"/>
          </a:xfrm>
          <a:prstGeom prst="rect">
            <a:avLst/>
          </a:prstGeom>
          <a:noFill/>
          <a:ln/>
        </p:spPr>
        <p:txBody>
          <a:bodyPr wrap="none" lIns="0" tIns="0" rIns="0" bIns="0" rtlCol="0" anchor="t">
            <a:spAutoFit/>
          </a:bodyPr>
          <a:lstStyle/>
          <a:p>
            <a:pPr marL="0" indent="0" algn="l">
              <a:lnSpc>
                <a:spcPct val="130000"/>
              </a:lnSpc>
              <a:buNone/>
            </a:pPr>
            <a:r>
              <a:rPr lang="en-US" sz="950" dirty="0">
                <a:solidFill>
                  <a:srgbClr val="F4F4F4"/>
                </a:solidFill>
                <a:latin typeface="Inter" pitchFamily="34" charset="0"/>
                <a:ea typeface="Inter" pitchFamily="34" charset="-122"/>
                <a:cs typeface="Inter" pitchFamily="34" charset="-120"/>
              </a:rPr>
              <a:t>TC-010: Import of</a:t>
            </a:r>
            <a:endParaRPr lang="en-US" sz="950" dirty="0"/>
          </a:p>
        </p:txBody>
      </p:sp>
      <p:sp>
        <p:nvSpPr>
          <p:cNvPr id="22" name="Text 18"/>
          <p:cNvSpPr/>
          <p:nvPr/>
        </p:nvSpPr>
        <p:spPr>
          <a:xfrm>
            <a:off x="6436519" y="3327202"/>
            <a:ext cx="385874" cy="146447"/>
          </a:xfrm>
          <a:prstGeom prst="rect">
            <a:avLst/>
          </a:prstGeom>
          <a:noFill/>
          <a:ln/>
        </p:spPr>
        <p:txBody>
          <a:bodyPr wrap="none" lIns="0" tIns="0" rIns="0" bIns="0" rtlCol="0" anchor="t">
            <a:spAutoFit/>
          </a:bodyPr>
          <a:lstStyle/>
          <a:p>
            <a:pPr marL="0" indent="0" algn="l">
              <a:lnSpc>
                <a:spcPct val="130000"/>
              </a:lnSpc>
              <a:buNone/>
            </a:pPr>
            <a:r>
              <a:rPr lang="en-US" sz="950" dirty="0">
                <a:solidFill>
                  <a:srgbClr val="F4F4F4"/>
                </a:solidFill>
                <a:latin typeface="SFMono-Regular" pitchFamily="34" charset="0"/>
                <a:ea typeface="SFMono-Regular" pitchFamily="34" charset="-122"/>
                <a:cs typeface="SFMono-Regular" pitchFamily="34" charset="-120"/>
              </a:rPr>
              <a:t>merge</a:t>
            </a:r>
            <a:endParaRPr lang="en-US" sz="950" dirty="0"/>
          </a:p>
        </p:txBody>
      </p:sp>
      <p:sp>
        <p:nvSpPr>
          <p:cNvPr id="23" name="Text 19"/>
          <p:cNvSpPr/>
          <p:nvPr/>
        </p:nvSpPr>
        <p:spPr>
          <a:xfrm>
            <a:off x="6822393" y="3309342"/>
            <a:ext cx="357188" cy="157163"/>
          </a:xfrm>
          <a:prstGeom prst="rect">
            <a:avLst/>
          </a:prstGeom>
          <a:noFill/>
          <a:ln/>
        </p:spPr>
        <p:txBody>
          <a:bodyPr wrap="none" lIns="0" tIns="0" rIns="0" bIns="0" rtlCol="0" anchor="t">
            <a:spAutoFit/>
          </a:bodyPr>
          <a:lstStyle/>
          <a:p>
            <a:pPr marL="0" indent="0" algn="l">
              <a:lnSpc>
                <a:spcPct val="130000"/>
              </a:lnSpc>
              <a:buNone/>
            </a:pPr>
            <a:r>
              <a:rPr lang="en-US" sz="950" dirty="0">
                <a:solidFill>
                  <a:srgbClr val="F4F4F4"/>
                </a:solidFill>
                <a:latin typeface="Inter" pitchFamily="34" charset="0"/>
                <a:ea typeface="Inter" pitchFamily="34" charset="-122"/>
                <a:cs typeface="Inter" pitchFamily="34" charset="-120"/>
              </a:rPr>
              <a:t>from</a:t>
            </a:r>
            <a:endParaRPr lang="en-US" sz="950" dirty="0"/>
          </a:p>
        </p:txBody>
      </p:sp>
      <p:sp>
        <p:nvSpPr>
          <p:cNvPr id="24" name="Text 20"/>
          <p:cNvSpPr/>
          <p:nvPr/>
        </p:nvSpPr>
        <p:spPr>
          <a:xfrm>
            <a:off x="7179580" y="3327202"/>
            <a:ext cx="1080325" cy="146447"/>
          </a:xfrm>
          <a:prstGeom prst="rect">
            <a:avLst/>
          </a:prstGeom>
          <a:noFill/>
          <a:ln/>
        </p:spPr>
        <p:txBody>
          <a:bodyPr wrap="none" lIns="0" tIns="0" rIns="0" bIns="0" rtlCol="0" anchor="t">
            <a:spAutoFit/>
          </a:bodyPr>
          <a:lstStyle/>
          <a:p>
            <a:pPr marL="0" indent="0" algn="l">
              <a:lnSpc>
                <a:spcPct val="130000"/>
              </a:lnSpc>
              <a:buNone/>
            </a:pPr>
            <a:r>
              <a:rPr lang="en-US" sz="950" dirty="0">
                <a:solidFill>
                  <a:srgbClr val="F4F4F4"/>
                </a:solidFill>
                <a:latin typeface="SFMono-Regular" pitchFamily="34" charset="0"/>
                <a:ea typeface="SFMono-Regular" pitchFamily="34" charset="-122"/>
                <a:cs typeface="SFMono-Regular" pitchFamily="34" charset="-120"/>
              </a:rPr>
              <a:t>lodash@4.17.21</a:t>
            </a:r>
            <a:endParaRPr lang="en-US" sz="950" dirty="0"/>
          </a:p>
        </p:txBody>
      </p:sp>
      <p:sp>
        <p:nvSpPr>
          <p:cNvPr id="25" name="Text 21"/>
          <p:cNvSpPr/>
          <p:nvPr/>
        </p:nvSpPr>
        <p:spPr>
          <a:xfrm>
            <a:off x="5314950" y="3532584"/>
            <a:ext cx="2775347" cy="157163"/>
          </a:xfrm>
          <a:prstGeom prst="rect">
            <a:avLst/>
          </a:prstGeom>
          <a:noFill/>
          <a:ln/>
        </p:spPr>
        <p:txBody>
          <a:bodyPr wrap="none" lIns="0" tIns="0" rIns="0" bIns="0" rtlCol="0" anchor="t">
            <a:spAutoFit/>
          </a:bodyPr>
          <a:lstStyle/>
          <a:p>
            <a:pPr marL="0" indent="0" algn="l">
              <a:lnSpc>
                <a:spcPct val="130000"/>
              </a:lnSpc>
              <a:buNone/>
            </a:pPr>
            <a:r>
              <a:rPr lang="en-US" sz="950" dirty="0">
                <a:solidFill>
                  <a:srgbClr val="F4F4F4"/>
                </a:solidFill>
                <a:latin typeface="Inter" pitchFamily="34" charset="0"/>
                <a:ea typeface="Inter" pitchFamily="34" charset="-122"/>
                <a:cs typeface="Inter" pitchFamily="34" charset="-120"/>
              </a:rPr>
              <a:t>confirmed via static tarball inspection. Result:</a:t>
            </a:r>
            <a:endParaRPr lang="en-US" sz="950" dirty="0"/>
          </a:p>
        </p:txBody>
      </p:sp>
      <p:sp>
        <p:nvSpPr>
          <p:cNvPr id="26" name="Text 22"/>
          <p:cNvSpPr/>
          <p:nvPr/>
        </p:nvSpPr>
        <p:spPr>
          <a:xfrm>
            <a:off x="5314950" y="3741539"/>
            <a:ext cx="460772" cy="157163"/>
          </a:xfrm>
          <a:prstGeom prst="rect">
            <a:avLst/>
          </a:prstGeom>
          <a:noFill/>
          <a:ln/>
        </p:spPr>
        <p:txBody>
          <a:bodyPr wrap="none" lIns="0" tIns="0" rIns="0" bIns="0" rtlCol="0" anchor="t">
            <a:spAutoFit/>
          </a:bodyPr>
          <a:lstStyle/>
          <a:p>
            <a:pPr marL="0" indent="0" algn="l">
              <a:lnSpc>
                <a:spcPct val="130000"/>
              </a:lnSpc>
              <a:buNone/>
            </a:pPr>
            <a:r>
              <a:rPr lang="en-US" sz="900" b="1" dirty="0">
                <a:solidFill>
                  <a:srgbClr val="F4F4F4"/>
                </a:solidFill>
                <a:latin typeface="Inter SemiBold" pitchFamily="34" charset="0"/>
                <a:ea typeface="Inter SemiBold" pitchFamily="34" charset="-122"/>
                <a:cs typeface="Inter SemiBold" pitchFamily="34" charset="-120"/>
              </a:rPr>
              <a:t>ALLOW</a:t>
            </a:r>
            <a:endParaRPr lang="en-US" sz="900" dirty="0"/>
          </a:p>
        </p:txBody>
      </p:sp>
      <p:sp>
        <p:nvSpPr>
          <p:cNvPr id="27" name="Text 23"/>
          <p:cNvSpPr/>
          <p:nvPr/>
        </p:nvSpPr>
        <p:spPr>
          <a:xfrm>
            <a:off x="5775722" y="3741539"/>
            <a:ext cx="35719" cy="157163"/>
          </a:xfrm>
          <a:prstGeom prst="rect">
            <a:avLst/>
          </a:prstGeom>
          <a:noFill/>
          <a:ln/>
        </p:spPr>
        <p:txBody>
          <a:bodyPr wrap="none" lIns="0" tIns="0" rIns="0" bIns="0" rtlCol="0" anchor="t">
            <a:spAutoFit/>
          </a:bodyPr>
          <a:lstStyle/>
          <a:p>
            <a:pPr marL="0" indent="0" algn="l">
              <a:lnSpc>
                <a:spcPct val="130000"/>
              </a:lnSpc>
              <a:buNone/>
            </a:pPr>
            <a:r>
              <a:rPr lang="en-US" sz="950" dirty="0">
                <a:solidFill>
                  <a:srgbClr val="F4F4F4"/>
                </a:solidFill>
                <a:latin typeface="Inter" pitchFamily="34" charset="0"/>
                <a:ea typeface="Inter" pitchFamily="34" charset="-122"/>
                <a:cs typeface="Inter" pitchFamily="34" charset="-120"/>
              </a:rPr>
              <a:t>.</a:t>
            </a:r>
            <a:endParaRPr lang="en-US" sz="950" dirty="0"/>
          </a:p>
        </p:txBody>
      </p:sp>
      <p:sp>
        <p:nvSpPr>
          <p:cNvPr id="28" name="Text 24"/>
          <p:cNvSpPr/>
          <p:nvPr/>
        </p:nvSpPr>
        <p:spPr>
          <a:xfrm>
            <a:off x="428625" y="4586288"/>
            <a:ext cx="1440191"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[ACTION: RE-VALIDATION_LOOP]</a:t>
            </a:r>
            <a:endParaRPr lang="en-US" sz="600" dirty="0"/>
          </a:p>
        </p:txBody>
      </p:sp>
      <p:sp>
        <p:nvSpPr>
          <p:cNvPr id="29" name="Text 25"/>
          <p:cNvSpPr/>
          <p:nvPr/>
        </p:nvSpPr>
        <p:spPr>
          <a:xfrm>
            <a:off x="6709377" y="4586288"/>
            <a:ext cx="2005998"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SRC/REMEDIATION/ENGINE.TS / TC-010</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28600" y="228600"/>
            <a:ext cx="8686800" cy="210015"/>
          </a:xfrm>
          <a:prstGeom prst="rect">
            <a:avLst/>
          </a:prstGeom>
          <a:noFill/>
          <a:ln/>
        </p:spPr>
        <p:txBody>
          <a:bodyPr wrap="none" lIns="0" tIns="0" rIns="0" bIns="0" rtlCol="0" anchor="t">
            <a:spAutoFit/>
          </a:bodyPr>
          <a:lstStyle/>
          <a:p>
            <a:pPr marL="0" indent="0" algn="l">
              <a:lnSpc>
                <a:spcPct val="84000"/>
              </a:lnSpc>
              <a:buNone/>
            </a:pPr>
            <a:r>
              <a:rPr lang="en-US" sz="1400" b="1" dirty="0">
                <a:solidFill>
                  <a:srgbClr val="F4F4F4"/>
                </a:solidFill>
                <a:latin typeface="IBM Plex Sans SemiBold" pitchFamily="34" charset="0"/>
                <a:ea typeface="IBM Plex Sans SemiBold" pitchFamily="34" charset="-122"/>
                <a:cs typeface="IBM Plex Sans SemiBold" pitchFamily="34" charset="-120"/>
              </a:rPr>
              <a:t>Built for IBM Bob’s moment of action</a:t>
            </a:r>
            <a:endParaRPr lang="en-US" sz="1400" dirty="0"/>
          </a:p>
        </p:txBody>
      </p:sp>
      <p:sp>
        <p:nvSpPr>
          <p:cNvPr id="5" name="Text 1"/>
          <p:cNvSpPr/>
          <p:nvPr/>
        </p:nvSpPr>
        <p:spPr>
          <a:xfrm>
            <a:off x="507206" y="760084"/>
            <a:ext cx="971550" cy="139303"/>
          </a:xfrm>
          <a:prstGeom prst="rect">
            <a:avLst/>
          </a:prstGeom>
          <a:noFill/>
          <a:ln/>
        </p:spPr>
        <p:txBody>
          <a:bodyPr wrap="none" lIns="0" tIns="0" rIns="0" bIns="0" rtlCol="0" anchor="t">
            <a:spAutoFit/>
          </a:bodyPr>
          <a:lstStyle/>
          <a:p>
            <a:pPr marL="0" indent="0" algn="l">
              <a:lnSpc>
                <a:spcPct val="120000"/>
              </a:lnSpc>
              <a:buNone/>
            </a:pPr>
            <a:r>
              <a:rPr lang="en-US" sz="650" dirty="0">
                <a:solidFill>
                  <a:srgbClr val="8D8D8D"/>
                </a:solidFill>
                <a:latin typeface="IBM Plex Mono" pitchFamily="34" charset="0"/>
                <a:ea typeface="IBM Plex Mono" pitchFamily="34" charset="-122"/>
                <a:cs typeface="IBM Plex Mono" pitchFamily="34" charset="-120"/>
              </a:rPr>
              <a:t>INTERCEPTION (L0)</a:t>
            </a:r>
            <a:endParaRPr lang="en-US" sz="650" dirty="0"/>
          </a:p>
        </p:txBody>
      </p:sp>
      <p:sp>
        <p:nvSpPr>
          <p:cNvPr id="6" name="Text 2"/>
          <p:cNvSpPr/>
          <p:nvPr/>
        </p:nvSpPr>
        <p:spPr>
          <a:xfrm>
            <a:off x="378619" y="1024403"/>
            <a:ext cx="475059" cy="175022"/>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F4F4F4"/>
                </a:solidFill>
                <a:latin typeface="Inter SemiBold" pitchFamily="34" charset="0"/>
                <a:ea typeface="Inter SemiBold" pitchFamily="34" charset="-122"/>
                <a:cs typeface="Inter SemiBold" pitchFamily="34" charset="-120"/>
              </a:rPr>
              <a:t>Native</a:t>
            </a:r>
            <a:endParaRPr lang="en-US" sz="1000" dirty="0"/>
          </a:p>
        </p:txBody>
      </p:sp>
      <p:sp>
        <p:nvSpPr>
          <p:cNvPr id="7" name="Text 3"/>
          <p:cNvSpPr/>
          <p:nvPr/>
        </p:nvSpPr>
        <p:spPr>
          <a:xfrm>
            <a:off x="853678" y="1049406"/>
            <a:ext cx="857417" cy="160734"/>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E6E6E6"/>
                </a:solidFill>
                <a:latin typeface="SFMono-Regular" pitchFamily="34" charset="0"/>
                <a:ea typeface="SFMono-Regular" pitchFamily="34" charset="-122"/>
                <a:cs typeface="SFMono-Regular" pitchFamily="34" charset="-120"/>
              </a:rPr>
              <a:t>PreToolUse</a:t>
            </a:r>
            <a:endParaRPr lang="en-US" sz="1000" dirty="0"/>
          </a:p>
        </p:txBody>
      </p:sp>
      <p:sp>
        <p:nvSpPr>
          <p:cNvPr id="8" name="Text 4"/>
          <p:cNvSpPr/>
          <p:nvPr/>
        </p:nvSpPr>
        <p:spPr>
          <a:xfrm>
            <a:off x="1711096" y="1024403"/>
            <a:ext cx="396478" cy="175022"/>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F4F4F4"/>
                </a:solidFill>
                <a:latin typeface="Inter SemiBold" pitchFamily="34" charset="0"/>
                <a:ea typeface="Inter SemiBold" pitchFamily="34" charset="-122"/>
                <a:cs typeface="Inter SemiBold" pitchFamily="34" charset="-120"/>
              </a:rPr>
              <a:t>Hook</a:t>
            </a:r>
            <a:endParaRPr lang="en-US" sz="1000" dirty="0"/>
          </a:p>
        </p:txBody>
      </p:sp>
      <p:sp>
        <p:nvSpPr>
          <p:cNvPr id="9" name="Text 5"/>
          <p:cNvSpPr/>
          <p:nvPr/>
        </p:nvSpPr>
        <p:spPr>
          <a:xfrm>
            <a:off x="378619" y="1367303"/>
            <a:ext cx="767953" cy="139303"/>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BDBDBD"/>
                </a:solidFill>
                <a:latin typeface="Inter" pitchFamily="34" charset="0"/>
                <a:ea typeface="Inter" pitchFamily="34" charset="-122"/>
                <a:cs typeface="Inter" pitchFamily="34" charset="-120"/>
              </a:rPr>
              <a:t>Configured in</a:t>
            </a:r>
            <a:endParaRPr lang="en-US" sz="850" dirty="0"/>
          </a:p>
        </p:txBody>
      </p:sp>
      <p:sp>
        <p:nvSpPr>
          <p:cNvPr id="10" name="Text 6"/>
          <p:cNvSpPr/>
          <p:nvPr/>
        </p:nvSpPr>
        <p:spPr>
          <a:xfrm>
            <a:off x="1146572" y="1381590"/>
            <a:ext cx="1234641" cy="132159"/>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E6E6E6"/>
                </a:solidFill>
                <a:latin typeface="SFMono-Regular" pitchFamily="34" charset="0"/>
                <a:ea typeface="SFMono-Regular" pitchFamily="34" charset="-122"/>
                <a:cs typeface="SFMono-Regular" pitchFamily="34" charset="-120"/>
              </a:rPr>
              <a:t>.bob/settings.json</a:t>
            </a:r>
            <a:endParaRPr lang="en-US" sz="850" dirty="0"/>
          </a:p>
        </p:txBody>
      </p:sp>
      <p:sp>
        <p:nvSpPr>
          <p:cNvPr id="11" name="Text 7"/>
          <p:cNvSpPr/>
          <p:nvPr/>
        </p:nvSpPr>
        <p:spPr>
          <a:xfrm>
            <a:off x="2381213" y="1367303"/>
            <a:ext cx="1482328" cy="139303"/>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BDBDBD"/>
                </a:solidFill>
                <a:latin typeface="Inter" pitchFamily="34" charset="0"/>
                <a:ea typeface="Inter" pitchFamily="34" charset="-122"/>
                <a:cs typeface="Inter" pitchFamily="34" charset="-120"/>
              </a:rPr>
              <a:t>. The hook intercepts every</a:t>
            </a:r>
            <a:endParaRPr lang="en-US" sz="850" dirty="0"/>
          </a:p>
        </p:txBody>
      </p:sp>
      <p:sp>
        <p:nvSpPr>
          <p:cNvPr id="12" name="Text 8"/>
          <p:cNvSpPr/>
          <p:nvPr/>
        </p:nvSpPr>
        <p:spPr>
          <a:xfrm>
            <a:off x="378619" y="1578043"/>
            <a:ext cx="1028867" cy="132159"/>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E6E6E6"/>
                </a:solidFill>
                <a:latin typeface="SFMono-Regular" pitchFamily="34" charset="0"/>
                <a:ea typeface="SFMono-Regular" pitchFamily="34" charset="-122"/>
                <a:cs typeface="SFMono-Regular" pitchFamily="34" charset="-120"/>
              </a:rPr>
              <a:t>execute_command</a:t>
            </a:r>
            <a:endParaRPr lang="en-US" sz="850" dirty="0"/>
          </a:p>
        </p:txBody>
      </p:sp>
      <p:sp>
        <p:nvSpPr>
          <p:cNvPr id="13" name="Text 9"/>
          <p:cNvSpPr/>
          <p:nvPr/>
        </p:nvSpPr>
        <p:spPr>
          <a:xfrm>
            <a:off x="1407486" y="1563756"/>
            <a:ext cx="564356" cy="139303"/>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BDBDBD"/>
                </a:solidFill>
                <a:latin typeface="Inter" pitchFamily="34" charset="0"/>
                <a:ea typeface="Inter" pitchFamily="34" charset="-122"/>
                <a:cs typeface="Inter" pitchFamily="34" charset="-120"/>
              </a:rPr>
              <a:t>matching</a:t>
            </a:r>
            <a:endParaRPr lang="en-US" sz="850" dirty="0"/>
          </a:p>
        </p:txBody>
      </p:sp>
      <p:sp>
        <p:nvSpPr>
          <p:cNvPr id="14" name="Text 10"/>
          <p:cNvSpPr/>
          <p:nvPr/>
        </p:nvSpPr>
        <p:spPr>
          <a:xfrm>
            <a:off x="1971842" y="1578043"/>
            <a:ext cx="754503" cy="132159"/>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E6E6E6"/>
                </a:solidFill>
                <a:latin typeface="SFMono-Regular" pitchFamily="34" charset="0"/>
                <a:ea typeface="SFMono-Regular" pitchFamily="34" charset="-122"/>
                <a:cs typeface="SFMono-Regular" pitchFamily="34" charset="-120"/>
              </a:rPr>
              <a:t>npm install</a:t>
            </a:r>
            <a:endParaRPr lang="en-US" sz="850" dirty="0"/>
          </a:p>
        </p:txBody>
      </p:sp>
      <p:sp>
        <p:nvSpPr>
          <p:cNvPr id="15" name="Text 11"/>
          <p:cNvSpPr/>
          <p:nvPr/>
        </p:nvSpPr>
        <p:spPr>
          <a:xfrm>
            <a:off x="2726345" y="1563756"/>
            <a:ext cx="1418034" cy="139303"/>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BDBDBD"/>
                </a:solidFill>
                <a:latin typeface="Inter" pitchFamily="34" charset="0"/>
                <a:ea typeface="Inter" pitchFamily="34" charset="-122"/>
                <a:cs typeface="Inter" pitchFamily="34" charset="-120"/>
              </a:rPr>
              <a:t>before it ever reaches the</a:t>
            </a:r>
            <a:endParaRPr lang="en-US" sz="850" dirty="0"/>
          </a:p>
        </p:txBody>
      </p:sp>
      <p:sp>
        <p:nvSpPr>
          <p:cNvPr id="16" name="Text 12"/>
          <p:cNvSpPr/>
          <p:nvPr/>
        </p:nvSpPr>
        <p:spPr>
          <a:xfrm>
            <a:off x="378619" y="1760209"/>
            <a:ext cx="285750" cy="139303"/>
          </a:xfrm>
          <a:prstGeom prst="rect">
            <a:avLst/>
          </a:prstGeom>
          <a:noFill/>
          <a:ln/>
        </p:spPr>
        <p:txBody>
          <a:bodyPr wrap="none" lIns="0" tIns="0" rIns="0" bIns="0" rtlCol="0" anchor="t">
            <a:spAutoFit/>
          </a:bodyPr>
          <a:lstStyle/>
          <a:p>
            <a:pPr marL="0" indent="0" algn="l">
              <a:lnSpc>
                <a:spcPct val="130000"/>
              </a:lnSpc>
              <a:buNone/>
            </a:pPr>
            <a:r>
              <a:rPr lang="en-US" sz="850" dirty="0">
                <a:solidFill>
                  <a:srgbClr val="BDBDBD"/>
                </a:solidFill>
                <a:latin typeface="Inter" pitchFamily="34" charset="0"/>
                <a:ea typeface="Inter" pitchFamily="34" charset="-122"/>
                <a:cs typeface="Inter" pitchFamily="34" charset="-120"/>
              </a:rPr>
              <a:t>shell.</a:t>
            </a:r>
            <a:endParaRPr lang="en-US" sz="850" dirty="0"/>
          </a:p>
        </p:txBody>
      </p:sp>
      <p:sp>
        <p:nvSpPr>
          <p:cNvPr id="17" name="Shape 13"/>
          <p:cNvSpPr/>
          <p:nvPr/>
        </p:nvSpPr>
        <p:spPr>
          <a:xfrm>
            <a:off x="378619" y="2648155"/>
            <a:ext cx="3971925" cy="742950"/>
          </a:xfrm>
          <a:prstGeom prst="rect">
            <a:avLst/>
          </a:prstGeom>
          <a:solidFill>
            <a:srgbClr val="262626"/>
          </a:solidFill>
          <a:ln w="9144">
            <a:solidFill>
              <a:srgbClr val="393939"/>
            </a:solidFill>
            <a:prstDash val="solid"/>
          </a:ln>
        </p:spPr>
      </p:sp>
      <p:sp>
        <p:nvSpPr>
          <p:cNvPr id="18" name="Text 14"/>
          <p:cNvSpPr/>
          <p:nvPr/>
        </p:nvSpPr>
        <p:spPr>
          <a:xfrm>
            <a:off x="378619" y="2648155"/>
            <a:ext cx="3971925" cy="742950"/>
          </a:xfrm>
          <a:prstGeom prst="rect">
            <a:avLst/>
          </a:prstGeom>
          <a:noFill/>
          <a:ln/>
        </p:spPr>
        <p:txBody>
          <a:bodyPr wrap="square" lIns="102108" tIns="102108" rIns="102108" bIns="102108" rtlCol="0" anchor="t">
            <a:spAutoFit/>
          </a:bodyPr>
          <a:lstStyle/>
          <a:p>
            <a:pPr marL="0" indent="0" algn="l">
              <a:lnSpc>
                <a:spcPct val="120000"/>
              </a:lnSpc>
              <a:buNone/>
            </a:pPr>
            <a:r>
              <a:rPr lang="en-US" sz="650" dirty="0">
                <a:solidFill>
                  <a:srgbClr val="D6D6D6"/>
                </a:solidFill>
                <a:latin typeface="IBM Plex Mono" pitchFamily="34" charset="0"/>
                <a:ea typeface="IBM Plex Mono" pitchFamily="34" charset="-122"/>
                <a:cs typeface="IBM Plex Mono" pitchFamily="34" charset="-120"/>
              </a:rPr>
              <a:t>"matcher": "execute_command",</a:t>
            </a:r>
            <a:endParaRPr lang="en-US" sz="650" dirty="0"/>
          </a:p>
          <a:p>
            <a:pPr marL="0" indent="0" algn="l">
              <a:lnSpc>
                <a:spcPct val="120000"/>
              </a:lnSpc>
              <a:buNone/>
            </a:pPr>
            <a:r>
              <a:rPr lang="en-US" sz="650" dirty="0">
                <a:solidFill>
                  <a:srgbClr val="D6D6D6"/>
                </a:solidFill>
                <a:latin typeface="IBM Plex Mono" pitchFamily="34" charset="0"/>
                <a:ea typeface="IBM Plex Mono" pitchFamily="34" charset="-122"/>
                <a:cs typeface="IBM Plex Mono" pitchFamily="34" charset="-120"/>
              </a:rPr>
              <a:t>"command": "npx tsx PreToolUse.mjs"</a:t>
            </a:r>
            <a:endParaRPr lang="en-US" sz="650" dirty="0"/>
          </a:p>
        </p:txBody>
      </p:sp>
      <p:sp>
        <p:nvSpPr>
          <p:cNvPr id="19" name="Text 15"/>
          <p:cNvSpPr/>
          <p:nvPr/>
        </p:nvSpPr>
        <p:spPr>
          <a:xfrm>
            <a:off x="4922044" y="760084"/>
            <a:ext cx="857250" cy="139303"/>
          </a:xfrm>
          <a:prstGeom prst="rect">
            <a:avLst/>
          </a:prstGeom>
          <a:noFill/>
          <a:ln/>
        </p:spPr>
        <p:txBody>
          <a:bodyPr wrap="none" lIns="0" tIns="0" rIns="0" bIns="0" rtlCol="0" anchor="t">
            <a:spAutoFit/>
          </a:bodyPr>
          <a:lstStyle/>
          <a:p>
            <a:pPr marL="0" indent="0" algn="l">
              <a:lnSpc>
                <a:spcPct val="120000"/>
              </a:lnSpc>
              <a:buNone/>
            </a:pPr>
            <a:r>
              <a:rPr lang="en-US" sz="650" dirty="0">
                <a:solidFill>
                  <a:srgbClr val="8D8D8D"/>
                </a:solidFill>
                <a:latin typeface="IBM Plex Mono" pitchFamily="34" charset="0"/>
                <a:ea typeface="IBM Plex Mono" pitchFamily="34" charset="-122"/>
                <a:cs typeface="IBM Plex Mono" pitchFamily="34" charset="-120"/>
              </a:rPr>
              <a:t>EVIDENCE LEDGER</a:t>
            </a:r>
            <a:endParaRPr lang="en-US" sz="650" dirty="0"/>
          </a:p>
        </p:txBody>
      </p:sp>
      <p:sp>
        <p:nvSpPr>
          <p:cNvPr id="20" name="Text 16"/>
          <p:cNvSpPr/>
          <p:nvPr/>
        </p:nvSpPr>
        <p:spPr>
          <a:xfrm>
            <a:off x="4793456" y="1013687"/>
            <a:ext cx="3971925" cy="200025"/>
          </a:xfrm>
          <a:prstGeom prst="rect">
            <a:avLst/>
          </a:prstGeom>
          <a:noFill/>
          <a:ln/>
        </p:spPr>
        <p:txBody>
          <a:bodyPr wrap="none" lIns="0" tIns="0" rIns="0" bIns="0" rtlCol="0" anchor="t">
            <a:spAutoFit/>
          </a:bodyPr>
          <a:lstStyle/>
          <a:p>
            <a:pPr marL="0" indent="0" algn="l">
              <a:lnSpc>
                <a:spcPct val="112000"/>
              </a:lnSpc>
              <a:buNone/>
            </a:pPr>
            <a:r>
              <a:rPr lang="en-US" sz="1000" b="1" dirty="0">
                <a:solidFill>
                  <a:srgbClr val="F4F4F4"/>
                </a:solidFill>
                <a:latin typeface="Inter SemiBold" pitchFamily="34" charset="0"/>
                <a:ea typeface="Inter SemiBold" pitchFamily="34" charset="-122"/>
                <a:cs typeface="Inter SemiBold" pitchFamily="34" charset="-120"/>
              </a:rPr>
              <a:t>Hash-Chained Audit Log</a:t>
            </a:r>
            <a:endParaRPr lang="en-US" sz="1000" dirty="0"/>
          </a:p>
        </p:txBody>
      </p:sp>
      <p:sp>
        <p:nvSpPr>
          <p:cNvPr id="21" name="Text 17"/>
          <p:cNvSpPr/>
          <p:nvPr/>
        </p:nvSpPr>
        <p:spPr>
          <a:xfrm>
            <a:off x="4793456" y="1328012"/>
            <a:ext cx="3971925" cy="371475"/>
          </a:xfrm>
          <a:prstGeom prst="rect">
            <a:avLst/>
          </a:prstGeom>
          <a:noFill/>
          <a:ln/>
        </p:spPr>
        <p:txBody>
          <a:bodyPr wrap="square" lIns="0" tIns="0" rIns="0" bIns="0" rtlCol="0" anchor="t">
            <a:spAutoFit/>
          </a:bodyPr>
          <a:lstStyle/>
          <a:p>
            <a:pPr marL="0" indent="0" algn="l">
              <a:lnSpc>
                <a:spcPct val="130000"/>
              </a:lnSpc>
              <a:buNone/>
            </a:pPr>
            <a:r>
              <a:rPr lang="en-US" sz="850" dirty="0">
                <a:solidFill>
                  <a:srgbClr val="BDBDBD"/>
                </a:solidFill>
                <a:latin typeface="Inter" pitchFamily="34" charset="0"/>
                <a:ea typeface="Inter" pitchFamily="34" charset="-122"/>
                <a:cs typeface="Inter" pitchFamily="34" charset="-120"/>
              </a:rPr>
              <a:t>Every decision is appended to an NDJSON log with a SHA-256 chain to the previous record. Immutable, verifiable history of agent actions.</a:t>
            </a:r>
            <a:endParaRPr lang="en-US" sz="850" dirty="0"/>
          </a:p>
        </p:txBody>
      </p:sp>
      <p:sp>
        <p:nvSpPr>
          <p:cNvPr id="22" name="Shape 18"/>
          <p:cNvSpPr/>
          <p:nvPr/>
        </p:nvSpPr>
        <p:spPr>
          <a:xfrm>
            <a:off x="4793456" y="2501708"/>
            <a:ext cx="3971925" cy="882253"/>
          </a:xfrm>
          <a:prstGeom prst="rect">
            <a:avLst/>
          </a:prstGeom>
          <a:solidFill>
            <a:srgbClr val="262626"/>
          </a:solidFill>
          <a:ln w="9144">
            <a:solidFill>
              <a:srgbClr val="393939"/>
            </a:solidFill>
            <a:prstDash val="solid"/>
          </a:ln>
        </p:spPr>
      </p:sp>
      <p:sp>
        <p:nvSpPr>
          <p:cNvPr id="23" name="Text 19"/>
          <p:cNvSpPr/>
          <p:nvPr/>
        </p:nvSpPr>
        <p:spPr>
          <a:xfrm>
            <a:off x="4793456" y="2501708"/>
            <a:ext cx="3971925" cy="882253"/>
          </a:xfrm>
          <a:prstGeom prst="rect">
            <a:avLst/>
          </a:prstGeom>
          <a:noFill/>
          <a:ln/>
        </p:spPr>
        <p:txBody>
          <a:bodyPr wrap="square" lIns="102108" tIns="102108" rIns="102108" bIns="102108" rtlCol="0" anchor="t">
            <a:spAutoFit/>
          </a:bodyPr>
          <a:lstStyle/>
          <a:p>
            <a:pPr marL="0" indent="0" algn="l">
              <a:lnSpc>
                <a:spcPct val="120000"/>
              </a:lnSpc>
              <a:buNone/>
            </a:pPr>
            <a:r>
              <a:rPr lang="en-US" sz="650" dirty="0">
                <a:solidFill>
                  <a:srgbClr val="D6D6D6"/>
                </a:solidFill>
                <a:latin typeface="IBM Plex Mono" pitchFamily="34" charset="0"/>
                <a:ea typeface="IBM Plex Mono" pitchFamily="34" charset="-122"/>
                <a:cs typeface="IBM Plex Mono" pitchFamily="34" charset="-120"/>
              </a:rPr>
              <a:t>{ "decisionId": "uuid-001",</a:t>
            </a:r>
            <a:endParaRPr lang="en-US" sz="650" dirty="0"/>
          </a:p>
          <a:p>
            <a:pPr marL="0" indent="0" algn="l">
              <a:lnSpc>
                <a:spcPct val="120000"/>
              </a:lnSpc>
              <a:buNone/>
            </a:pPr>
            <a:r>
              <a:rPr lang="en-US" sz="650" dirty="0">
                <a:solidFill>
                  <a:srgbClr val="D6D6D6"/>
                </a:solidFill>
                <a:latin typeface="IBM Plex Mono" pitchFamily="34" charset="0"/>
                <a:ea typeface="IBM Plex Mono" pitchFamily="34" charset="-122"/>
                <a:cs typeface="IBM Plex Mono" pitchFamily="34" charset="-120"/>
              </a:rPr>
              <a:t>  "action": "BLOCK",</a:t>
            </a:r>
            <a:endParaRPr lang="en-US" sz="650" dirty="0"/>
          </a:p>
          <a:p>
            <a:pPr marL="0" indent="0" algn="l">
              <a:lnSpc>
                <a:spcPct val="120000"/>
              </a:lnSpc>
              <a:buNone/>
            </a:pPr>
            <a:r>
              <a:rPr lang="en-US" sz="650" dirty="0">
                <a:solidFill>
                  <a:srgbClr val="D6D6D6"/>
                </a:solidFill>
                <a:latin typeface="IBM Plex Mono" pitchFamily="34" charset="0"/>
                <a:ea typeface="IBM Plex Mono" pitchFamily="34" charset="-122"/>
                <a:cs typeface="IBM Plex Mono" pitchFamily="34" charset="-120"/>
              </a:rPr>
              <a:t>  "recordHash": "sha256:..." }</a:t>
            </a:r>
            <a:endParaRPr lang="en-US" sz="650" dirty="0"/>
          </a:p>
        </p:txBody>
      </p:sp>
      <p:sp>
        <p:nvSpPr>
          <p:cNvPr id="24" name="Text 20"/>
          <p:cNvSpPr/>
          <p:nvPr/>
        </p:nvSpPr>
        <p:spPr>
          <a:xfrm>
            <a:off x="228600" y="4077965"/>
            <a:ext cx="1493658" cy="300038"/>
          </a:xfrm>
          <a:prstGeom prst="rect">
            <a:avLst/>
          </a:prstGeom>
          <a:noFill/>
          <a:ln/>
        </p:spPr>
        <p:txBody>
          <a:bodyPr wrap="square" lIns="0" tIns="0" rIns="0" bIns="0" rtlCol="0" anchor="t">
            <a:spAutoFit/>
          </a:bodyPr>
          <a:lstStyle/>
          <a:p>
            <a:pPr marL="0" indent="0" algn="l">
              <a:lnSpc>
                <a:spcPct val="84000"/>
              </a:lnSpc>
              <a:buNone/>
            </a:pPr>
            <a:r>
              <a:rPr lang="en-US" sz="1000" b="1" dirty="0">
                <a:solidFill>
                  <a:srgbClr val="0F62FE"/>
                </a:solidFill>
                <a:latin typeface="Inter SemiBold" pitchFamily="34" charset="0"/>
                <a:ea typeface="Inter SemiBold" pitchFamily="34" charset="-122"/>
                <a:cs typeface="Inter SemiBold" pitchFamily="34" charset="-120"/>
              </a:rPr>
              <a:t>Plan → Ask → Agent Verified.</a:t>
            </a:r>
            <a:endParaRPr lang="en-US" sz="1000" dirty="0"/>
          </a:p>
        </p:txBody>
      </p:sp>
      <p:sp>
        <p:nvSpPr>
          <p:cNvPr id="25" name="Text 21"/>
          <p:cNvSpPr/>
          <p:nvPr/>
        </p:nvSpPr>
        <p:spPr>
          <a:xfrm>
            <a:off x="1807983" y="4088011"/>
            <a:ext cx="7107417" cy="279946"/>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BDBDBD"/>
                </a:solidFill>
                <a:latin typeface="Inter" pitchFamily="34" charset="0"/>
                <a:ea typeface="Inter" pitchFamily="34" charset="-122"/>
                <a:cs typeface="Inter" pitchFamily="34" charset="-120"/>
              </a:rPr>
              <a:t>IBM Bob is the only AI development partner with the full repository context required to fuel our claim gate. We don't just provide a tool; we provide an honest enforcement boundary for agentic workflows.</a:t>
            </a:r>
            <a:endParaRPr lang="en-US" sz="750" dirty="0"/>
          </a:p>
        </p:txBody>
      </p:sp>
      <p:sp>
        <p:nvSpPr>
          <p:cNvPr id="26" name="Text 22"/>
          <p:cNvSpPr/>
          <p:nvPr/>
        </p:nvSpPr>
        <p:spPr>
          <a:xfrm>
            <a:off x="228600" y="4786313"/>
            <a:ext cx="1550194"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[INTEGRATION: IBM_BOB_2.0_CORE]</a:t>
            </a:r>
            <a:endParaRPr lang="en-US" sz="600" dirty="0"/>
          </a:p>
        </p:txBody>
      </p:sp>
      <p:sp>
        <p:nvSpPr>
          <p:cNvPr id="27" name="Text 23"/>
          <p:cNvSpPr/>
          <p:nvPr/>
        </p:nvSpPr>
        <p:spPr>
          <a:xfrm>
            <a:off x="6165056" y="4786313"/>
            <a:ext cx="2750344"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.BOB/SETTINGS.JSON / .PHANTOMDEPS/DECISIONS.NDJSON</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14313" y="214313"/>
            <a:ext cx="8715375" cy="278606"/>
          </a:xfrm>
          <a:prstGeom prst="rect">
            <a:avLst/>
          </a:prstGeom>
          <a:noFill/>
          <a:ln/>
        </p:spPr>
        <p:txBody>
          <a:bodyPr wrap="none" lIns="0" tIns="0" rIns="0" bIns="0" rtlCol="0" anchor="t">
            <a:spAutoFit/>
          </a:bodyPr>
          <a:lstStyle/>
          <a:p>
            <a:pPr marL="0" indent="0" algn="l">
              <a:lnSpc>
                <a:spcPct val="120000"/>
              </a:lnSpc>
              <a:buNone/>
            </a:pPr>
            <a:r>
              <a:rPr lang="en-US" sz="1300" b="1" dirty="0">
                <a:solidFill>
                  <a:srgbClr val="F4F4F4"/>
                </a:solidFill>
                <a:latin typeface="IBM Plex Sans SemiBold" pitchFamily="34" charset="0"/>
                <a:ea typeface="IBM Plex Sans SemiBold" pitchFamily="34" charset="-122"/>
                <a:cs typeface="IBM Plex Sans SemiBold" pitchFamily="34" charset="-120"/>
              </a:rPr>
              <a:t>The prototype is measurable</a:t>
            </a:r>
            <a:endParaRPr lang="en-US" sz="1300" dirty="0"/>
          </a:p>
        </p:txBody>
      </p:sp>
      <p:sp>
        <p:nvSpPr>
          <p:cNvPr id="5" name="Text 1"/>
          <p:cNvSpPr/>
          <p:nvPr/>
        </p:nvSpPr>
        <p:spPr>
          <a:xfrm>
            <a:off x="214313" y="721519"/>
            <a:ext cx="2071688" cy="257175"/>
          </a:xfrm>
          <a:prstGeom prst="rect">
            <a:avLst/>
          </a:prstGeom>
          <a:noFill/>
          <a:ln/>
        </p:spPr>
        <p:txBody>
          <a:bodyPr wrap="none" lIns="0" tIns="0" rIns="0" bIns="0" rtlCol="0" anchor="t">
            <a:spAutoFit/>
          </a:bodyPr>
          <a:lstStyle/>
          <a:p>
            <a:pPr marL="0" indent="0" algn="l">
              <a:lnSpc>
                <a:spcPct val="80000"/>
              </a:lnSpc>
              <a:buNone/>
            </a:pPr>
            <a:r>
              <a:rPr lang="en-US" sz="1800" b="1" dirty="0">
                <a:solidFill>
                  <a:srgbClr val="F4F4F4"/>
                </a:solidFill>
                <a:latin typeface="Inter SemiBold" pitchFamily="34" charset="0"/>
                <a:ea typeface="Inter SemiBold" pitchFamily="34" charset="-122"/>
                <a:cs typeface="Inter SemiBold" pitchFamily="34" charset="-120"/>
              </a:rPr>
              <a:t>205</a:t>
            </a:r>
            <a:endParaRPr lang="en-US" sz="1800" dirty="0"/>
          </a:p>
        </p:txBody>
      </p:sp>
      <p:sp>
        <p:nvSpPr>
          <p:cNvPr id="6" name="Text 2"/>
          <p:cNvSpPr/>
          <p:nvPr/>
        </p:nvSpPr>
        <p:spPr>
          <a:xfrm>
            <a:off x="214313" y="1021556"/>
            <a:ext cx="2071688" cy="128588"/>
          </a:xfrm>
          <a:prstGeom prst="rect">
            <a:avLst/>
          </a:prstGeom>
          <a:noFill/>
          <a:ln/>
        </p:spPr>
        <p:txBody>
          <a:bodyPr wrap="none" lIns="0" tIns="0" rIns="0" bIns="0" rtlCol="0" anchor="t">
            <a:spAutoFit/>
          </a:bodyPr>
          <a:lstStyle/>
          <a:p>
            <a:pPr marL="0" indent="0" algn="l">
              <a:lnSpc>
                <a:spcPct val="120000"/>
              </a:lnSpc>
              <a:buNone/>
            </a:pPr>
            <a:r>
              <a:rPr lang="en-US" sz="600" kern="0" spc="1" dirty="0">
                <a:solidFill>
                  <a:srgbClr val="8D8D8D"/>
                </a:solidFill>
                <a:latin typeface="Inter" pitchFamily="34" charset="0"/>
                <a:ea typeface="Inter" pitchFamily="34" charset="-122"/>
                <a:cs typeface="Inter" pitchFamily="34" charset="-120"/>
              </a:rPr>
              <a:t>TESTS PASSING</a:t>
            </a:r>
            <a:endParaRPr lang="en-US" sz="600" dirty="0"/>
          </a:p>
        </p:txBody>
      </p:sp>
      <p:sp>
        <p:nvSpPr>
          <p:cNvPr id="7" name="Text 3"/>
          <p:cNvSpPr/>
          <p:nvPr/>
        </p:nvSpPr>
        <p:spPr>
          <a:xfrm>
            <a:off x="2428875" y="721519"/>
            <a:ext cx="2071688" cy="257175"/>
          </a:xfrm>
          <a:prstGeom prst="rect">
            <a:avLst/>
          </a:prstGeom>
          <a:noFill/>
          <a:ln/>
        </p:spPr>
        <p:txBody>
          <a:bodyPr wrap="none" lIns="0" tIns="0" rIns="0" bIns="0" rtlCol="0" anchor="t">
            <a:spAutoFit/>
          </a:bodyPr>
          <a:lstStyle/>
          <a:p>
            <a:pPr marL="0" indent="0" algn="l">
              <a:lnSpc>
                <a:spcPct val="80000"/>
              </a:lnSpc>
              <a:buNone/>
            </a:pPr>
            <a:r>
              <a:rPr lang="en-US" sz="1800" b="1" dirty="0">
                <a:solidFill>
                  <a:srgbClr val="22C55E"/>
                </a:solidFill>
                <a:latin typeface="Inter SemiBold" pitchFamily="34" charset="0"/>
                <a:ea typeface="Inter SemiBold" pitchFamily="34" charset="-122"/>
                <a:cs typeface="Inter SemiBold" pitchFamily="34" charset="-120"/>
              </a:rPr>
              <a:t>100%</a:t>
            </a:r>
            <a:endParaRPr lang="en-US" sz="1800" dirty="0"/>
          </a:p>
        </p:txBody>
      </p:sp>
      <p:sp>
        <p:nvSpPr>
          <p:cNvPr id="8" name="Text 4"/>
          <p:cNvSpPr/>
          <p:nvPr/>
        </p:nvSpPr>
        <p:spPr>
          <a:xfrm>
            <a:off x="2428875" y="1021556"/>
            <a:ext cx="2071688" cy="128588"/>
          </a:xfrm>
          <a:prstGeom prst="rect">
            <a:avLst/>
          </a:prstGeom>
          <a:noFill/>
          <a:ln/>
        </p:spPr>
        <p:txBody>
          <a:bodyPr wrap="none" lIns="0" tIns="0" rIns="0" bIns="0" rtlCol="0" anchor="t">
            <a:spAutoFit/>
          </a:bodyPr>
          <a:lstStyle/>
          <a:p>
            <a:pPr marL="0" indent="0" algn="l">
              <a:lnSpc>
                <a:spcPct val="120000"/>
              </a:lnSpc>
              <a:buNone/>
            </a:pPr>
            <a:r>
              <a:rPr lang="en-US" sz="600" kern="0" spc="1" dirty="0">
                <a:solidFill>
                  <a:srgbClr val="8D8D8D"/>
                </a:solidFill>
                <a:latin typeface="Inter" pitchFamily="34" charset="0"/>
                <a:ea typeface="Inter" pitchFamily="34" charset="-122"/>
                <a:cs typeface="Inter" pitchFamily="34" charset="-120"/>
              </a:rPr>
              <a:t>WRONG-SYMBOL RECALL</a:t>
            </a:r>
            <a:endParaRPr lang="en-US" sz="600" dirty="0"/>
          </a:p>
        </p:txBody>
      </p:sp>
      <p:sp>
        <p:nvSpPr>
          <p:cNvPr id="9" name="Text 5"/>
          <p:cNvSpPr/>
          <p:nvPr/>
        </p:nvSpPr>
        <p:spPr>
          <a:xfrm>
            <a:off x="4643438" y="721519"/>
            <a:ext cx="2071688" cy="257175"/>
          </a:xfrm>
          <a:prstGeom prst="rect">
            <a:avLst/>
          </a:prstGeom>
          <a:noFill/>
          <a:ln/>
        </p:spPr>
        <p:txBody>
          <a:bodyPr wrap="none" lIns="0" tIns="0" rIns="0" bIns="0" rtlCol="0" anchor="t">
            <a:spAutoFit/>
          </a:bodyPr>
          <a:lstStyle/>
          <a:p>
            <a:pPr marL="0" indent="0" algn="l">
              <a:lnSpc>
                <a:spcPct val="80000"/>
              </a:lnSpc>
              <a:buNone/>
            </a:pPr>
            <a:r>
              <a:rPr lang="en-US" sz="1800" b="1" dirty="0">
                <a:solidFill>
                  <a:srgbClr val="22C55E"/>
                </a:solidFill>
                <a:latin typeface="Inter SemiBold" pitchFamily="34" charset="0"/>
                <a:ea typeface="Inter SemiBold" pitchFamily="34" charset="-122"/>
                <a:cs typeface="Inter SemiBold" pitchFamily="34" charset="-120"/>
              </a:rPr>
              <a:t>0%</a:t>
            </a:r>
            <a:endParaRPr lang="en-US" sz="1800" dirty="0"/>
          </a:p>
        </p:txBody>
      </p:sp>
      <p:sp>
        <p:nvSpPr>
          <p:cNvPr id="10" name="Text 6"/>
          <p:cNvSpPr/>
          <p:nvPr/>
        </p:nvSpPr>
        <p:spPr>
          <a:xfrm>
            <a:off x="4643438" y="1021556"/>
            <a:ext cx="2071688" cy="128588"/>
          </a:xfrm>
          <a:prstGeom prst="rect">
            <a:avLst/>
          </a:prstGeom>
          <a:noFill/>
          <a:ln/>
        </p:spPr>
        <p:txBody>
          <a:bodyPr wrap="none" lIns="0" tIns="0" rIns="0" bIns="0" rtlCol="0" anchor="t">
            <a:spAutoFit/>
          </a:bodyPr>
          <a:lstStyle/>
          <a:p>
            <a:pPr marL="0" indent="0" algn="l">
              <a:lnSpc>
                <a:spcPct val="120000"/>
              </a:lnSpc>
              <a:buNone/>
            </a:pPr>
            <a:r>
              <a:rPr lang="en-US" sz="600" kern="0" spc="1" dirty="0">
                <a:solidFill>
                  <a:srgbClr val="8D8D8D"/>
                </a:solidFill>
                <a:latin typeface="Inter" pitchFamily="34" charset="0"/>
                <a:ea typeface="Inter" pitchFamily="34" charset="-122"/>
                <a:cs typeface="Inter" pitchFamily="34" charset="-120"/>
              </a:rPr>
              <a:t>FALSE-BLOCK RATE</a:t>
            </a:r>
            <a:endParaRPr lang="en-US" sz="600" dirty="0"/>
          </a:p>
        </p:txBody>
      </p:sp>
      <p:sp>
        <p:nvSpPr>
          <p:cNvPr id="11" name="Text 7"/>
          <p:cNvSpPr/>
          <p:nvPr/>
        </p:nvSpPr>
        <p:spPr>
          <a:xfrm>
            <a:off x="6858000" y="721519"/>
            <a:ext cx="2071688" cy="257175"/>
          </a:xfrm>
          <a:prstGeom prst="rect">
            <a:avLst/>
          </a:prstGeom>
          <a:noFill/>
          <a:ln/>
        </p:spPr>
        <p:txBody>
          <a:bodyPr wrap="none" lIns="0" tIns="0" rIns="0" bIns="0" rtlCol="0" anchor="t">
            <a:spAutoFit/>
          </a:bodyPr>
          <a:lstStyle/>
          <a:p>
            <a:pPr marL="0" indent="0" algn="l">
              <a:lnSpc>
                <a:spcPct val="80000"/>
              </a:lnSpc>
              <a:buNone/>
            </a:pPr>
            <a:r>
              <a:rPr lang="en-US" sz="1800" b="1" dirty="0">
                <a:solidFill>
                  <a:srgbClr val="8A3FFC"/>
                </a:solidFill>
                <a:latin typeface="Inter SemiBold" pitchFamily="34" charset="0"/>
                <a:ea typeface="Inter SemiBold" pitchFamily="34" charset="-122"/>
                <a:cs typeface="Inter SemiBold" pitchFamily="34" charset="-120"/>
              </a:rPr>
              <a:t>1168ms</a:t>
            </a:r>
            <a:endParaRPr lang="en-US" sz="1800" dirty="0"/>
          </a:p>
        </p:txBody>
      </p:sp>
      <p:sp>
        <p:nvSpPr>
          <p:cNvPr id="12" name="Text 8"/>
          <p:cNvSpPr/>
          <p:nvPr/>
        </p:nvSpPr>
        <p:spPr>
          <a:xfrm>
            <a:off x="6858000" y="1021556"/>
            <a:ext cx="2071688" cy="128588"/>
          </a:xfrm>
          <a:prstGeom prst="rect">
            <a:avLst/>
          </a:prstGeom>
          <a:noFill/>
          <a:ln/>
        </p:spPr>
        <p:txBody>
          <a:bodyPr wrap="none" lIns="0" tIns="0" rIns="0" bIns="0" rtlCol="0" anchor="t">
            <a:spAutoFit/>
          </a:bodyPr>
          <a:lstStyle/>
          <a:p>
            <a:pPr marL="0" indent="0" algn="l">
              <a:lnSpc>
                <a:spcPct val="120000"/>
              </a:lnSpc>
              <a:buNone/>
            </a:pPr>
            <a:r>
              <a:rPr lang="en-US" sz="600" kern="0" spc="1" dirty="0">
                <a:solidFill>
                  <a:srgbClr val="8D8D8D"/>
                </a:solidFill>
                <a:latin typeface="Inter" pitchFamily="34" charset="0"/>
                <a:ea typeface="Inter" pitchFamily="34" charset="-122"/>
                <a:cs typeface="Inter" pitchFamily="34" charset="-120"/>
              </a:rPr>
              <a:t>AVG GATE LATENCY</a:t>
            </a:r>
            <a:endParaRPr lang="en-US" sz="600" dirty="0"/>
          </a:p>
        </p:txBody>
      </p:sp>
      <p:sp>
        <p:nvSpPr>
          <p:cNvPr id="13" name="Shape 9"/>
          <p:cNvSpPr/>
          <p:nvPr/>
        </p:nvSpPr>
        <p:spPr>
          <a:xfrm>
            <a:off x="214313" y="1378744"/>
            <a:ext cx="8715375" cy="1728788"/>
          </a:xfrm>
          <a:prstGeom prst="rect">
            <a:avLst/>
          </a:prstGeom>
          <a:solidFill>
            <a:srgbClr val="000000">
              <a:alpha val="0"/>
            </a:srgbClr>
          </a:solidFill>
          <a:ln/>
        </p:spPr>
      </p:sp>
      <p:sp>
        <p:nvSpPr>
          <p:cNvPr id="14" name="Shape 10"/>
          <p:cNvSpPr/>
          <p:nvPr/>
        </p:nvSpPr>
        <p:spPr>
          <a:xfrm>
            <a:off x="214313" y="1378744"/>
            <a:ext cx="8715375" cy="7144"/>
          </a:xfrm>
          <a:prstGeom prst="rect">
            <a:avLst/>
          </a:prstGeom>
          <a:solidFill>
            <a:srgbClr val="393939"/>
          </a:solidFill>
          <a:ln/>
        </p:spPr>
      </p:sp>
      <p:sp>
        <p:nvSpPr>
          <p:cNvPr id="15" name="Text 11"/>
          <p:cNvSpPr/>
          <p:nvPr/>
        </p:nvSpPr>
        <p:spPr>
          <a:xfrm>
            <a:off x="214313" y="1478756"/>
            <a:ext cx="8715375" cy="128588"/>
          </a:xfrm>
          <a:prstGeom prst="rect">
            <a:avLst/>
          </a:prstGeom>
          <a:noFill/>
          <a:ln/>
        </p:spPr>
        <p:txBody>
          <a:bodyPr wrap="none" lIns="0" tIns="0" rIns="0" bIns="0" rtlCol="0" anchor="t">
            <a:spAutoFit/>
          </a:bodyPr>
          <a:lstStyle/>
          <a:p>
            <a:pPr marL="0" indent="0" algn="l">
              <a:lnSpc>
                <a:spcPct val="120000"/>
              </a:lnSpc>
              <a:buNone/>
            </a:pPr>
            <a:r>
              <a:rPr lang="en-US" sz="600" b="1" kern="0" spc="1" dirty="0">
                <a:solidFill>
                  <a:srgbClr val="F4F4F4">
                    <a:alpha val="65000"/>
                  </a:srgbClr>
                </a:solidFill>
                <a:latin typeface="IBM Plex Mono Bold" pitchFamily="34" charset="0"/>
                <a:ea typeface="IBM Plex Mono Bold" pitchFamily="34" charset="-122"/>
                <a:cs typeface="IBM Plex Mono Bold" pitchFamily="34" charset="-120"/>
              </a:rPr>
              <a:t>EVALUATION CORPUS RESULTS (B0/B1/B2)</a:t>
            </a:r>
            <a:endParaRPr lang="en-US" sz="600" dirty="0"/>
          </a:p>
        </p:txBody>
      </p:sp>
      <p:sp>
        <p:nvSpPr>
          <p:cNvPr id="16" name="Text 12"/>
          <p:cNvSpPr/>
          <p:nvPr/>
        </p:nvSpPr>
        <p:spPr>
          <a:xfrm>
            <a:off x="214313" y="1664494"/>
            <a:ext cx="4156044" cy="275034"/>
          </a:xfrm>
          <a:prstGeom prst="rect">
            <a:avLst/>
          </a:prstGeom>
          <a:noFill/>
          <a:ln/>
        </p:spPr>
        <p:txBody>
          <a:bodyPr wrap="square" lIns="85090" tIns="85090" rIns="85090" bIns="85090" rtlCol="0" anchor="ctr">
            <a:spAutoFit/>
          </a:bodyPr>
          <a:lstStyle/>
          <a:p>
            <a:pPr marL="0" indent="0" algn="l">
              <a:lnSpc>
                <a:spcPct val="120000"/>
              </a:lnSpc>
              <a:buNone/>
            </a:pPr>
            <a:r>
              <a:rPr lang="en-US" sz="600" b="1" dirty="0">
                <a:solidFill>
                  <a:srgbClr val="8D8D8D"/>
                </a:solidFill>
                <a:latin typeface="IBM Plex Mono Bold" pitchFamily="34" charset="0"/>
                <a:ea typeface="IBM Plex Mono Bold" pitchFamily="34" charset="-122"/>
                <a:cs typeface="IBM Plex Mono Bold" pitchFamily="34" charset="-120"/>
              </a:rPr>
              <a:t>Scenario</a:t>
            </a:r>
            <a:endParaRPr lang="en-US" sz="600" dirty="0"/>
          </a:p>
        </p:txBody>
      </p:sp>
      <p:sp>
        <p:nvSpPr>
          <p:cNvPr id="17" name="Text 13"/>
          <p:cNvSpPr/>
          <p:nvPr/>
        </p:nvSpPr>
        <p:spPr>
          <a:xfrm>
            <a:off x="4370356" y="1664494"/>
            <a:ext cx="1178551" cy="275034"/>
          </a:xfrm>
          <a:prstGeom prst="rect">
            <a:avLst/>
          </a:prstGeom>
          <a:noFill/>
          <a:ln/>
        </p:spPr>
        <p:txBody>
          <a:bodyPr wrap="square" lIns="85090" tIns="85090" rIns="85090" bIns="85090" rtlCol="0" anchor="ctr">
            <a:spAutoFit/>
          </a:bodyPr>
          <a:lstStyle/>
          <a:p>
            <a:pPr marL="0" indent="0" algn="l">
              <a:lnSpc>
                <a:spcPct val="120000"/>
              </a:lnSpc>
              <a:buNone/>
            </a:pPr>
            <a:r>
              <a:rPr lang="en-US" sz="600" b="1" dirty="0">
                <a:solidFill>
                  <a:srgbClr val="8D8D8D"/>
                </a:solidFill>
                <a:latin typeface="IBM Plex Mono Bold" pitchFamily="34" charset="0"/>
                <a:ea typeface="IBM Plex Mono Bold" pitchFamily="34" charset="-122"/>
                <a:cs typeface="IBM Plex Mono Bold" pitchFamily="34" charset="-120"/>
              </a:rPr>
              <a:t>Expected</a:t>
            </a:r>
            <a:endParaRPr lang="en-US" sz="600" dirty="0"/>
          </a:p>
        </p:txBody>
      </p:sp>
      <p:sp>
        <p:nvSpPr>
          <p:cNvPr id="18" name="Text 14"/>
          <p:cNvSpPr/>
          <p:nvPr/>
        </p:nvSpPr>
        <p:spPr>
          <a:xfrm>
            <a:off x="5548908" y="1664494"/>
            <a:ext cx="961448" cy="275034"/>
          </a:xfrm>
          <a:prstGeom prst="rect">
            <a:avLst/>
          </a:prstGeom>
          <a:noFill/>
          <a:ln/>
        </p:spPr>
        <p:txBody>
          <a:bodyPr wrap="square" lIns="85090" tIns="85090" rIns="85090" bIns="85090" rtlCol="0" anchor="ctr">
            <a:spAutoFit/>
          </a:bodyPr>
          <a:lstStyle/>
          <a:p>
            <a:pPr marL="0" indent="0" algn="l">
              <a:lnSpc>
                <a:spcPct val="120000"/>
              </a:lnSpc>
              <a:buNone/>
            </a:pPr>
            <a:r>
              <a:rPr lang="en-US" sz="600" b="1" dirty="0">
                <a:solidFill>
                  <a:srgbClr val="8D8D8D"/>
                </a:solidFill>
                <a:latin typeface="IBM Plex Mono Bold" pitchFamily="34" charset="0"/>
                <a:ea typeface="IBM Plex Mono Bold" pitchFamily="34" charset="-122"/>
                <a:cs typeface="IBM Plex Mono Bold" pitchFamily="34" charset="-120"/>
              </a:rPr>
              <a:t>Actual</a:t>
            </a:r>
            <a:endParaRPr lang="en-US" sz="600" dirty="0"/>
          </a:p>
        </p:txBody>
      </p:sp>
      <p:sp>
        <p:nvSpPr>
          <p:cNvPr id="19" name="Text 15"/>
          <p:cNvSpPr/>
          <p:nvPr/>
        </p:nvSpPr>
        <p:spPr>
          <a:xfrm>
            <a:off x="6510356" y="1664494"/>
            <a:ext cx="2419331" cy="275034"/>
          </a:xfrm>
          <a:prstGeom prst="rect">
            <a:avLst/>
          </a:prstGeom>
          <a:noFill/>
          <a:ln/>
        </p:spPr>
        <p:txBody>
          <a:bodyPr wrap="square" lIns="85090" tIns="85090" rIns="85090" bIns="85090" rtlCol="0" anchor="ctr">
            <a:spAutoFit/>
          </a:bodyPr>
          <a:lstStyle/>
          <a:p>
            <a:pPr marL="0" indent="0" algn="l">
              <a:lnSpc>
                <a:spcPct val="120000"/>
              </a:lnSpc>
              <a:buNone/>
            </a:pPr>
            <a:r>
              <a:rPr lang="en-US" sz="600" b="1" dirty="0">
                <a:solidFill>
                  <a:srgbClr val="8D8D8D"/>
                </a:solidFill>
                <a:latin typeface="IBM Plex Mono Bold" pitchFamily="34" charset="0"/>
                <a:ea typeface="IBM Plex Mono Bold" pitchFamily="34" charset="-122"/>
                <a:cs typeface="IBM Plex Mono Bold" pitchFamily="34" charset="-120"/>
              </a:rPr>
              <a:t>Rule Citations</a:t>
            </a:r>
            <a:endParaRPr lang="en-US" sz="600" dirty="0"/>
          </a:p>
        </p:txBody>
      </p:sp>
      <p:sp>
        <p:nvSpPr>
          <p:cNvPr id="20" name="Text 16"/>
          <p:cNvSpPr/>
          <p:nvPr/>
        </p:nvSpPr>
        <p:spPr>
          <a:xfrm>
            <a:off x="214313" y="1939528"/>
            <a:ext cx="4156044"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Hallucinated symbol in real pkg</a:t>
            </a:r>
            <a:endParaRPr lang="en-US" sz="650" dirty="0"/>
          </a:p>
        </p:txBody>
      </p:sp>
      <p:sp>
        <p:nvSpPr>
          <p:cNvPr id="21" name="Text 17"/>
          <p:cNvSpPr/>
          <p:nvPr/>
        </p:nvSpPr>
        <p:spPr>
          <a:xfrm>
            <a:off x="4370356" y="1939528"/>
            <a:ext cx="117855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BLOCK</a:t>
            </a:r>
            <a:endParaRPr lang="en-US" sz="650" dirty="0"/>
          </a:p>
        </p:txBody>
      </p:sp>
      <p:sp>
        <p:nvSpPr>
          <p:cNvPr id="22" name="Text 18"/>
          <p:cNvSpPr/>
          <p:nvPr/>
        </p:nvSpPr>
        <p:spPr>
          <a:xfrm>
            <a:off x="5548908" y="1939528"/>
            <a:ext cx="961448"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F4444"/>
                </a:solidFill>
                <a:latin typeface="IBM Plex Mono" pitchFamily="34" charset="0"/>
                <a:ea typeface="IBM Plex Mono" pitchFamily="34" charset="-122"/>
                <a:cs typeface="IBM Plex Mono" pitchFamily="34" charset="-120"/>
              </a:rPr>
              <a:t>BLOCK</a:t>
            </a:r>
            <a:endParaRPr lang="en-US" sz="650" dirty="0"/>
          </a:p>
        </p:txBody>
      </p:sp>
      <p:sp>
        <p:nvSpPr>
          <p:cNvPr id="23" name="Text 19"/>
          <p:cNvSpPr/>
          <p:nvPr/>
        </p:nvSpPr>
        <p:spPr>
          <a:xfrm>
            <a:off x="6510356" y="1939528"/>
            <a:ext cx="241933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l2.symbol_missing</a:t>
            </a:r>
            <a:endParaRPr lang="en-US" sz="650" dirty="0"/>
          </a:p>
        </p:txBody>
      </p:sp>
      <p:sp>
        <p:nvSpPr>
          <p:cNvPr id="24" name="Text 20"/>
          <p:cNvSpPr/>
          <p:nvPr/>
        </p:nvSpPr>
        <p:spPr>
          <a:xfrm>
            <a:off x="214313" y="2228850"/>
            <a:ext cx="4156044"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Valid import (lodash.merge)</a:t>
            </a:r>
            <a:endParaRPr lang="en-US" sz="650" dirty="0"/>
          </a:p>
        </p:txBody>
      </p:sp>
      <p:sp>
        <p:nvSpPr>
          <p:cNvPr id="25" name="Text 21"/>
          <p:cNvSpPr/>
          <p:nvPr/>
        </p:nvSpPr>
        <p:spPr>
          <a:xfrm>
            <a:off x="4370356" y="2228850"/>
            <a:ext cx="117855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ALLOW</a:t>
            </a:r>
            <a:endParaRPr lang="en-US" sz="650" dirty="0"/>
          </a:p>
        </p:txBody>
      </p:sp>
      <p:sp>
        <p:nvSpPr>
          <p:cNvPr id="26" name="Text 22"/>
          <p:cNvSpPr/>
          <p:nvPr/>
        </p:nvSpPr>
        <p:spPr>
          <a:xfrm>
            <a:off x="5548908" y="2228850"/>
            <a:ext cx="961448"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22C55E"/>
                </a:solidFill>
                <a:latin typeface="IBM Plex Mono" pitchFamily="34" charset="0"/>
                <a:ea typeface="IBM Plex Mono" pitchFamily="34" charset="-122"/>
                <a:cs typeface="IBM Plex Mono" pitchFamily="34" charset="-120"/>
              </a:rPr>
              <a:t>ALLOW</a:t>
            </a:r>
            <a:endParaRPr lang="en-US" sz="650" dirty="0"/>
          </a:p>
        </p:txBody>
      </p:sp>
      <p:sp>
        <p:nvSpPr>
          <p:cNvPr id="27" name="Text 23"/>
          <p:cNvSpPr/>
          <p:nvPr/>
        </p:nvSpPr>
        <p:spPr>
          <a:xfrm>
            <a:off x="6510356" y="2228850"/>
            <a:ext cx="241933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a:t>
            </a:r>
            <a:endParaRPr lang="en-US" sz="650" dirty="0"/>
          </a:p>
        </p:txBody>
      </p:sp>
      <p:sp>
        <p:nvSpPr>
          <p:cNvPr id="28" name="Text 24"/>
          <p:cNvSpPr/>
          <p:nvPr/>
        </p:nvSpPr>
        <p:spPr>
          <a:xfrm>
            <a:off x="214313" y="2518172"/>
            <a:ext cx="4156044"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New pkg with install scripts</a:t>
            </a:r>
            <a:endParaRPr lang="en-US" sz="650" dirty="0"/>
          </a:p>
        </p:txBody>
      </p:sp>
      <p:sp>
        <p:nvSpPr>
          <p:cNvPr id="29" name="Text 25"/>
          <p:cNvSpPr/>
          <p:nvPr/>
        </p:nvSpPr>
        <p:spPr>
          <a:xfrm>
            <a:off x="4370356" y="2518172"/>
            <a:ext cx="117855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WARN</a:t>
            </a:r>
            <a:endParaRPr lang="en-US" sz="650" dirty="0"/>
          </a:p>
        </p:txBody>
      </p:sp>
      <p:sp>
        <p:nvSpPr>
          <p:cNvPr id="30" name="Text 26"/>
          <p:cNvSpPr/>
          <p:nvPr/>
        </p:nvSpPr>
        <p:spPr>
          <a:xfrm>
            <a:off x="5548908" y="2518172"/>
            <a:ext cx="961448"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B308"/>
                </a:solidFill>
                <a:latin typeface="IBM Plex Mono" pitchFamily="34" charset="0"/>
                <a:ea typeface="IBM Plex Mono" pitchFamily="34" charset="-122"/>
                <a:cs typeface="IBM Plex Mono" pitchFamily="34" charset="-120"/>
              </a:rPr>
              <a:t>WARN</a:t>
            </a:r>
            <a:endParaRPr lang="en-US" sz="650" dirty="0"/>
          </a:p>
        </p:txBody>
      </p:sp>
      <p:sp>
        <p:nvSpPr>
          <p:cNvPr id="31" name="Text 27"/>
          <p:cNvSpPr/>
          <p:nvPr/>
        </p:nvSpPr>
        <p:spPr>
          <a:xfrm>
            <a:off x="6510356" y="2518172"/>
            <a:ext cx="241933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l3.risk_signal</a:t>
            </a:r>
            <a:endParaRPr lang="en-US" sz="650" dirty="0"/>
          </a:p>
        </p:txBody>
      </p:sp>
      <p:sp>
        <p:nvSpPr>
          <p:cNvPr id="32" name="Text 28"/>
          <p:cNvSpPr/>
          <p:nvPr/>
        </p:nvSpPr>
        <p:spPr>
          <a:xfrm>
            <a:off x="214313" y="2807494"/>
            <a:ext cx="4156044"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Registry unavailable / 404</a:t>
            </a:r>
            <a:endParaRPr lang="en-US" sz="650" dirty="0"/>
          </a:p>
        </p:txBody>
      </p:sp>
      <p:sp>
        <p:nvSpPr>
          <p:cNvPr id="33" name="Text 29"/>
          <p:cNvSpPr/>
          <p:nvPr/>
        </p:nvSpPr>
        <p:spPr>
          <a:xfrm>
            <a:off x="4370356" y="2807494"/>
            <a:ext cx="117855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BLOCK</a:t>
            </a:r>
            <a:endParaRPr lang="en-US" sz="650" dirty="0"/>
          </a:p>
        </p:txBody>
      </p:sp>
      <p:sp>
        <p:nvSpPr>
          <p:cNvPr id="34" name="Text 30"/>
          <p:cNvSpPr/>
          <p:nvPr/>
        </p:nvSpPr>
        <p:spPr>
          <a:xfrm>
            <a:off x="5548908" y="2807494"/>
            <a:ext cx="961448"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F4444"/>
                </a:solidFill>
                <a:latin typeface="IBM Plex Mono" pitchFamily="34" charset="0"/>
                <a:ea typeface="IBM Plex Mono" pitchFamily="34" charset="-122"/>
                <a:cs typeface="IBM Plex Mono" pitchFamily="34" charset="-120"/>
              </a:rPr>
              <a:t>BLOCK</a:t>
            </a:r>
            <a:endParaRPr lang="en-US" sz="650" dirty="0"/>
          </a:p>
        </p:txBody>
      </p:sp>
      <p:sp>
        <p:nvSpPr>
          <p:cNvPr id="35" name="Text 31"/>
          <p:cNvSpPr/>
          <p:nvPr/>
        </p:nvSpPr>
        <p:spPr>
          <a:xfrm>
            <a:off x="6510356" y="2807494"/>
            <a:ext cx="2419331" cy="289322"/>
          </a:xfrm>
          <a:prstGeom prst="rect">
            <a:avLst/>
          </a:prstGeom>
          <a:noFill/>
          <a:ln/>
        </p:spPr>
        <p:txBody>
          <a:bodyPr wrap="square" lIns="85090" tIns="85090" rIns="85090" bIns="85090" rtlCol="0" anchor="ctr">
            <a:spAutoFit/>
          </a:bodyPr>
          <a:lstStyle/>
          <a:p>
            <a:pPr marL="0" indent="0" algn="l">
              <a:lnSpc>
                <a:spcPct val="120000"/>
              </a:lnSpc>
              <a:buNone/>
            </a:pPr>
            <a:r>
              <a:rPr lang="en-US" sz="650" dirty="0">
                <a:solidFill>
                  <a:srgbClr val="EAEAEA"/>
                </a:solidFill>
                <a:latin typeface="IBM Plex Mono" pitchFamily="34" charset="0"/>
                <a:ea typeface="IBM Plex Mono" pitchFamily="34" charset="-122"/>
                <a:cs typeface="IBM Plex Mono" pitchFamily="34" charset="-120"/>
              </a:rPr>
              <a:t>l1.not_found</a:t>
            </a:r>
            <a:endParaRPr lang="en-US" sz="650" dirty="0"/>
          </a:p>
        </p:txBody>
      </p:sp>
      <p:sp>
        <p:nvSpPr>
          <p:cNvPr id="36" name="Text 32"/>
          <p:cNvSpPr/>
          <p:nvPr/>
        </p:nvSpPr>
        <p:spPr>
          <a:xfrm>
            <a:off x="214313" y="4811316"/>
            <a:ext cx="1253728" cy="117872"/>
          </a:xfrm>
          <a:prstGeom prst="rect">
            <a:avLst/>
          </a:prstGeom>
          <a:noFill/>
          <a:ln/>
        </p:spPr>
        <p:txBody>
          <a:bodyPr wrap="none" lIns="0" tIns="0" rIns="0" bIns="0" rtlCol="0" anchor="t">
            <a:spAutoFit/>
          </a:bodyPr>
          <a:lstStyle/>
          <a:p>
            <a:pPr marL="0" indent="0" algn="l">
              <a:lnSpc>
                <a:spcPct val="120000"/>
              </a:lnSpc>
              <a:buNone/>
            </a:pPr>
            <a:r>
              <a:rPr lang="en-US" sz="550" dirty="0">
                <a:solidFill>
                  <a:srgbClr val="8D8D8D"/>
                </a:solidFill>
                <a:latin typeface="IBM Plex Mono" pitchFamily="34" charset="0"/>
                <a:ea typeface="IBM Plex Mono" pitchFamily="34" charset="-122"/>
                <a:cs typeface="IBM Plex Mono" pitchFamily="34" charset="-120"/>
              </a:rPr>
              <a:t>[METRICS: TEAM_MEASUREMENT]</a:t>
            </a:r>
            <a:endParaRPr lang="en-US" sz="550" dirty="0"/>
          </a:p>
        </p:txBody>
      </p:sp>
      <p:sp>
        <p:nvSpPr>
          <p:cNvPr id="37" name="Text 33"/>
          <p:cNvSpPr/>
          <p:nvPr/>
        </p:nvSpPr>
        <p:spPr>
          <a:xfrm>
            <a:off x="7025878" y="4811316"/>
            <a:ext cx="1903809" cy="117872"/>
          </a:xfrm>
          <a:prstGeom prst="rect">
            <a:avLst/>
          </a:prstGeom>
          <a:noFill/>
          <a:ln/>
        </p:spPr>
        <p:txBody>
          <a:bodyPr wrap="none" lIns="0" tIns="0" rIns="0" bIns="0" rtlCol="0" anchor="t">
            <a:spAutoFit/>
          </a:bodyPr>
          <a:lstStyle/>
          <a:p>
            <a:pPr marL="0" indent="0" algn="l">
              <a:lnSpc>
                <a:spcPct val="120000"/>
              </a:lnSpc>
              <a:buNone/>
            </a:pPr>
            <a:r>
              <a:rPr lang="en-US" sz="550" dirty="0">
                <a:solidFill>
                  <a:srgbClr val="8D8D8D"/>
                </a:solidFill>
                <a:latin typeface="IBM Plex Mono" pitchFamily="34" charset="0"/>
                <a:ea typeface="IBM Plex Mono" pitchFamily="34" charset="-122"/>
                <a:cs typeface="IBM Plex Mono" pitchFamily="34" charset="-120"/>
              </a:rPr>
              <a:t>REF: PHASE-14 RESULTS / EVAL/RESULTS.JSON</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342900"/>
          </a:xfrm>
          <a:prstGeom prst="rect">
            <a:avLst/>
          </a:prstGeom>
          <a:noFill/>
          <a:ln/>
        </p:spPr>
        <p:txBody>
          <a:bodyPr wrap="none" lIns="0" tIns="0" rIns="0" bIns="0" rtlCol="0" anchor="t">
            <a:spAutoFit/>
          </a:bodyPr>
          <a:lstStyle/>
          <a:p>
            <a:pPr marL="0" indent="0" algn="l">
              <a:lnSpc>
                <a:spcPct val="120000"/>
              </a:lnSpc>
              <a:buNone/>
            </a:pPr>
            <a:r>
              <a:rPr lang="en-US" sz="1600" b="1" dirty="0">
                <a:solidFill>
                  <a:srgbClr val="F4F4F4"/>
                </a:solidFill>
                <a:latin typeface="IBM Plex Sans SemiBold" pitchFamily="34" charset="0"/>
                <a:ea typeface="IBM Plex Sans SemiBold" pitchFamily="34" charset="-122"/>
                <a:cs typeface="IBM Plex Sans SemiBold" pitchFamily="34" charset="-120"/>
              </a:rPr>
              <a:t>Trust comes from what we refuse to claim</a:t>
            </a:r>
            <a:endParaRPr lang="en-US" sz="1600" dirty="0"/>
          </a:p>
        </p:txBody>
      </p:sp>
      <p:sp>
        <p:nvSpPr>
          <p:cNvPr id="5" name="Text 1"/>
          <p:cNvSpPr/>
          <p:nvPr/>
        </p:nvSpPr>
        <p:spPr>
          <a:xfrm>
            <a:off x="428625" y="1128713"/>
            <a:ext cx="3857625" cy="228600"/>
          </a:xfrm>
          <a:prstGeom prst="rect">
            <a:avLst/>
          </a:prstGeom>
          <a:noFill/>
          <a:ln/>
        </p:spPr>
        <p:txBody>
          <a:bodyPr wrap="square" lIns="0" tIns="0" rIns="0" bIns="85090" rtlCol="0" anchor="t">
            <a:spAutoFit/>
          </a:bodyPr>
          <a:lstStyle/>
          <a:p>
            <a:pPr marL="0" indent="0" algn="l">
              <a:lnSpc>
                <a:spcPct val="120000"/>
              </a:lnSpc>
              <a:buNone/>
            </a:pPr>
            <a:r>
              <a:rPr lang="en-US" sz="750" dirty="0">
                <a:solidFill>
                  <a:srgbClr val="8D8D8D"/>
                </a:solidFill>
                <a:latin typeface="IBM Plex Mono" pitchFamily="34" charset="0"/>
                <a:ea typeface="IBM Plex Mono" pitchFamily="34" charset="-122"/>
                <a:cs typeface="IBM Plex Mono" pitchFamily="34" charset="-120"/>
              </a:rPr>
              <a:t>CURRENT SCOPE &amp; BOUNDARIES</a:t>
            </a:r>
            <a:endParaRPr lang="en-US" sz="750" dirty="0"/>
          </a:p>
        </p:txBody>
      </p:sp>
      <p:sp>
        <p:nvSpPr>
          <p:cNvPr id="6" name="Text 2"/>
          <p:cNvSpPr/>
          <p:nvPr/>
        </p:nvSpPr>
        <p:spPr>
          <a:xfrm>
            <a:off x="428625" y="1585913"/>
            <a:ext cx="154316"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BM Plex Mono Bold" pitchFamily="34" charset="0"/>
                <a:ea typeface="IBM Plex Mono Bold" pitchFamily="34" charset="-122"/>
                <a:cs typeface="IBM Plex Mono Bold" pitchFamily="34" charset="-120"/>
              </a:rPr>
              <a:t>01</a:t>
            </a:r>
            <a:endParaRPr lang="en-US" sz="900" dirty="0"/>
          </a:p>
        </p:txBody>
      </p:sp>
      <p:sp>
        <p:nvSpPr>
          <p:cNvPr id="7" name="Text 3"/>
          <p:cNvSpPr/>
          <p:nvPr/>
        </p:nvSpPr>
        <p:spPr>
          <a:xfrm>
            <a:off x="697241" y="1571625"/>
            <a:ext cx="3589009"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F4F4F4"/>
                </a:solidFill>
                <a:latin typeface="Inter" pitchFamily="34" charset="0"/>
                <a:ea typeface="Inter" pitchFamily="34" charset="-122"/>
                <a:cs typeface="Inter" pitchFamily="34" charset="-120"/>
              </a:rPr>
              <a:t>Registry-name specs for npm are first-class; URL, file, and alias forms are currently unverified.</a:t>
            </a:r>
            <a:endParaRPr lang="en-US" sz="950" dirty="0"/>
          </a:p>
        </p:txBody>
      </p:sp>
      <p:sp>
        <p:nvSpPr>
          <p:cNvPr id="8" name="Text 4"/>
          <p:cNvSpPr/>
          <p:nvPr/>
        </p:nvSpPr>
        <p:spPr>
          <a:xfrm>
            <a:off x="428625" y="2143125"/>
            <a:ext cx="154316"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BM Plex Mono Bold" pitchFamily="34" charset="0"/>
                <a:ea typeface="IBM Plex Mono Bold" pitchFamily="34" charset="-122"/>
                <a:cs typeface="IBM Plex Mono Bold" pitchFamily="34" charset="-120"/>
              </a:rPr>
              <a:t>02</a:t>
            </a:r>
            <a:endParaRPr lang="en-US" sz="900" dirty="0"/>
          </a:p>
        </p:txBody>
      </p:sp>
      <p:sp>
        <p:nvSpPr>
          <p:cNvPr id="9" name="Text 5"/>
          <p:cNvSpPr/>
          <p:nvPr/>
        </p:nvSpPr>
        <p:spPr>
          <a:xfrm>
            <a:off x="697241" y="2128838"/>
            <a:ext cx="3589009"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F4F4F4"/>
                </a:solidFill>
                <a:latin typeface="Inter" pitchFamily="34" charset="0"/>
                <a:ea typeface="Inter" pitchFamily="34" charset="-122"/>
                <a:cs typeface="Inter" pitchFamily="34" charset="-120"/>
              </a:rPr>
              <a:t>Static export declarations (ESM/TS) are required for B2 verification; dynamic/CJS exports return </a:t>
            </a:r>
            <a:r>
              <a:rPr lang="en-US" sz="900" b="1" dirty="0">
                <a:solidFill>
                  <a:srgbClr val="F4F4F4"/>
                </a:solidFill>
                <a:latin typeface="Inter SemiBold" pitchFamily="34" charset="0"/>
                <a:ea typeface="Inter SemiBold" pitchFamily="34" charset="-122"/>
                <a:cs typeface="Inter SemiBold" pitchFamily="34" charset="-120"/>
              </a:rPr>
              <a:t>UNVERIFIED</a:t>
            </a:r>
            <a:r>
              <a:rPr lang="en-US" sz="950" dirty="0">
                <a:solidFill>
                  <a:srgbClr val="F4F4F4"/>
                </a:solidFill>
                <a:latin typeface="Inter" pitchFamily="34" charset="0"/>
                <a:ea typeface="Inter" pitchFamily="34" charset="-122"/>
                <a:cs typeface="Inter" pitchFamily="34" charset="-120"/>
              </a:rPr>
              <a:t>.</a:t>
            </a:r>
            <a:endParaRPr lang="en-US" sz="950" dirty="0"/>
          </a:p>
        </p:txBody>
      </p:sp>
      <p:sp>
        <p:nvSpPr>
          <p:cNvPr id="10" name="Text 6"/>
          <p:cNvSpPr/>
          <p:nvPr/>
        </p:nvSpPr>
        <p:spPr>
          <a:xfrm>
            <a:off x="428625" y="2700338"/>
            <a:ext cx="154316"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BM Plex Mono Bold" pitchFamily="34" charset="0"/>
                <a:ea typeface="IBM Plex Mono Bold" pitchFamily="34" charset="-122"/>
                <a:cs typeface="IBM Plex Mono Bold" pitchFamily="34" charset="-120"/>
              </a:rPr>
              <a:t>03</a:t>
            </a:r>
            <a:endParaRPr lang="en-US" sz="900" dirty="0"/>
          </a:p>
        </p:txBody>
      </p:sp>
      <p:sp>
        <p:nvSpPr>
          <p:cNvPr id="11" name="Text 7"/>
          <p:cNvSpPr/>
          <p:nvPr/>
        </p:nvSpPr>
        <p:spPr>
          <a:xfrm>
            <a:off x="697241" y="2686050"/>
            <a:ext cx="3589009"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F4F4F4"/>
                </a:solidFill>
                <a:latin typeface="Inter" pitchFamily="34" charset="0"/>
                <a:ea typeface="Inter" pitchFamily="34" charset="-122"/>
                <a:cs typeface="Inter" pitchFamily="34" charset="-120"/>
              </a:rPr>
              <a:t>Zero post-approval monitoring; the gate secures the entry point, not the entire lifecycle.</a:t>
            </a:r>
            <a:endParaRPr lang="en-US" sz="950" dirty="0"/>
          </a:p>
        </p:txBody>
      </p:sp>
      <p:sp>
        <p:nvSpPr>
          <p:cNvPr id="12" name="Text 8"/>
          <p:cNvSpPr/>
          <p:nvPr/>
        </p:nvSpPr>
        <p:spPr>
          <a:xfrm>
            <a:off x="4857750" y="1128713"/>
            <a:ext cx="3857625" cy="228600"/>
          </a:xfrm>
          <a:prstGeom prst="rect">
            <a:avLst/>
          </a:prstGeom>
          <a:noFill/>
          <a:ln/>
        </p:spPr>
        <p:txBody>
          <a:bodyPr wrap="square" lIns="0" tIns="0" rIns="0" bIns="85090" rtlCol="0" anchor="t">
            <a:spAutoFit/>
          </a:bodyPr>
          <a:lstStyle/>
          <a:p>
            <a:pPr marL="0" indent="0" algn="l">
              <a:lnSpc>
                <a:spcPct val="120000"/>
              </a:lnSpc>
              <a:buNone/>
            </a:pPr>
            <a:r>
              <a:rPr lang="en-US" sz="750" dirty="0">
                <a:solidFill>
                  <a:srgbClr val="8D8D8D"/>
                </a:solidFill>
                <a:latin typeface="IBM Plex Mono" pitchFamily="34" charset="0"/>
                <a:ea typeface="IBM Plex Mono" pitchFamily="34" charset="-122"/>
                <a:cs typeface="IBM Plex Mono" pitchFamily="34" charset="-120"/>
              </a:rPr>
              <a:t>THE ROADMAP TO PRODUCTION</a:t>
            </a:r>
            <a:endParaRPr lang="en-US" sz="750" dirty="0"/>
          </a:p>
        </p:txBody>
      </p:sp>
      <p:sp>
        <p:nvSpPr>
          <p:cNvPr id="13" name="Text 9"/>
          <p:cNvSpPr/>
          <p:nvPr/>
        </p:nvSpPr>
        <p:spPr>
          <a:xfrm>
            <a:off x="4857750" y="1585913"/>
            <a:ext cx="77186"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BM Plex Mono Bold" pitchFamily="34" charset="0"/>
                <a:ea typeface="IBM Plex Mono Bold" pitchFamily="34" charset="-122"/>
                <a:cs typeface="IBM Plex Mono Bold" pitchFamily="34" charset="-120"/>
              </a:rPr>
              <a:t>→</a:t>
            </a:r>
            <a:endParaRPr lang="en-US" sz="900" dirty="0"/>
          </a:p>
        </p:txBody>
      </p:sp>
      <p:sp>
        <p:nvSpPr>
          <p:cNvPr id="14" name="Text 10"/>
          <p:cNvSpPr/>
          <p:nvPr/>
        </p:nvSpPr>
        <p:spPr>
          <a:xfrm>
            <a:off x="5049236" y="1571625"/>
            <a:ext cx="3666139" cy="385763"/>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FFFFFF"/>
                </a:solidFill>
                <a:latin typeface="Inter SemiBold" pitchFamily="34" charset="0"/>
                <a:ea typeface="Inter SemiBold" pitchFamily="34" charset="-122"/>
                <a:cs typeface="Inter SemiBold" pitchFamily="34" charset="-120"/>
              </a:rPr>
              <a:t>Live Symbol Resolution</a:t>
            </a:r>
            <a:r>
              <a:rPr lang="en-US" sz="950" dirty="0">
                <a:solidFill>
                  <a:srgbClr val="F4F4F4"/>
                </a:solidFill>
                <a:latin typeface="Inter" pitchFamily="34" charset="0"/>
                <a:ea typeface="Inter" pitchFamily="34" charset="-122"/>
                <a:cs typeface="Inter" pitchFamily="34" charset="-120"/>
              </a:rPr>
              <a:t> for dynamic CommonJS exports and non-standard layouts.</a:t>
            </a:r>
            <a:endParaRPr lang="en-US" sz="900" dirty="0"/>
          </a:p>
        </p:txBody>
      </p:sp>
      <p:sp>
        <p:nvSpPr>
          <p:cNvPr id="15" name="Text 11"/>
          <p:cNvSpPr/>
          <p:nvPr/>
        </p:nvSpPr>
        <p:spPr>
          <a:xfrm>
            <a:off x="4857750" y="2143125"/>
            <a:ext cx="77186"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BM Plex Mono Bold" pitchFamily="34" charset="0"/>
                <a:ea typeface="IBM Plex Mono Bold" pitchFamily="34" charset="-122"/>
                <a:cs typeface="IBM Plex Mono Bold" pitchFamily="34" charset="-120"/>
              </a:rPr>
              <a:t>→</a:t>
            </a:r>
            <a:endParaRPr lang="en-US" sz="900" dirty="0"/>
          </a:p>
        </p:txBody>
      </p:sp>
      <p:sp>
        <p:nvSpPr>
          <p:cNvPr id="16" name="Text 12"/>
          <p:cNvSpPr/>
          <p:nvPr/>
        </p:nvSpPr>
        <p:spPr>
          <a:xfrm>
            <a:off x="5049236" y="2128838"/>
            <a:ext cx="3666139" cy="385763"/>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FFFFFF"/>
                </a:solidFill>
                <a:latin typeface="Inter SemiBold" pitchFamily="34" charset="0"/>
                <a:ea typeface="Inter SemiBold" pitchFamily="34" charset="-122"/>
                <a:cs typeface="Inter SemiBold" pitchFamily="34" charset="-120"/>
              </a:rPr>
              <a:t>Enterprise Provenance</a:t>
            </a:r>
            <a:r>
              <a:rPr lang="en-US" sz="950" dirty="0">
                <a:solidFill>
                  <a:srgbClr val="F4F4F4"/>
                </a:solidFill>
                <a:latin typeface="Inter" pitchFamily="34" charset="0"/>
                <a:ea typeface="Inter" pitchFamily="34" charset="-122"/>
                <a:cs typeface="Inter" pitchFamily="34" charset="-120"/>
              </a:rPr>
              <a:t>: Support for private registries via token/vault integration.</a:t>
            </a:r>
            <a:endParaRPr lang="en-US" sz="900" dirty="0"/>
          </a:p>
        </p:txBody>
      </p:sp>
      <p:sp>
        <p:nvSpPr>
          <p:cNvPr id="17" name="Text 13"/>
          <p:cNvSpPr/>
          <p:nvPr/>
        </p:nvSpPr>
        <p:spPr>
          <a:xfrm>
            <a:off x="4857750" y="2700338"/>
            <a:ext cx="77186" cy="192881"/>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0F62FE"/>
                </a:solidFill>
                <a:latin typeface="IBM Plex Mono Bold" pitchFamily="34" charset="0"/>
                <a:ea typeface="IBM Plex Mono Bold" pitchFamily="34" charset="-122"/>
                <a:cs typeface="IBM Plex Mono Bold" pitchFamily="34" charset="-120"/>
              </a:rPr>
              <a:t>→</a:t>
            </a:r>
            <a:endParaRPr lang="en-US" sz="900" dirty="0"/>
          </a:p>
        </p:txBody>
      </p:sp>
      <p:sp>
        <p:nvSpPr>
          <p:cNvPr id="18" name="Text 14"/>
          <p:cNvSpPr/>
          <p:nvPr/>
        </p:nvSpPr>
        <p:spPr>
          <a:xfrm>
            <a:off x="5049236" y="2686050"/>
            <a:ext cx="3666139" cy="385763"/>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FFFFFF"/>
                </a:solidFill>
                <a:latin typeface="Inter SemiBold" pitchFamily="34" charset="0"/>
                <a:ea typeface="Inter SemiBold" pitchFamily="34" charset="-122"/>
                <a:cs typeface="Inter SemiBold" pitchFamily="34" charset="-120"/>
              </a:rPr>
              <a:t>L4 Task Fit</a:t>
            </a:r>
            <a:r>
              <a:rPr lang="en-US" sz="950" dirty="0">
                <a:solidFill>
                  <a:srgbClr val="F4F4F4"/>
                </a:solidFill>
                <a:latin typeface="Inter" pitchFamily="34" charset="0"/>
                <a:ea typeface="Inter" pitchFamily="34" charset="-122"/>
                <a:cs typeface="Inter" pitchFamily="34" charset="-120"/>
              </a:rPr>
              <a:t>: Deep README/intent analysis via isolated subagents for high-ambiguity packages.</a:t>
            </a:r>
            <a:endParaRPr lang="en-US" sz="900" dirty="0"/>
          </a:p>
        </p:txBody>
      </p:sp>
      <p:sp>
        <p:nvSpPr>
          <p:cNvPr id="19" name="Text 15"/>
          <p:cNvSpPr/>
          <p:nvPr/>
        </p:nvSpPr>
        <p:spPr>
          <a:xfrm>
            <a:off x="428625" y="4586288"/>
            <a:ext cx="1543050"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[STATE: PROTOTYPE_LIMITATIONS]</a:t>
            </a:r>
            <a:endParaRPr lang="en-US" sz="600" dirty="0"/>
          </a:p>
        </p:txBody>
      </p:sp>
      <p:sp>
        <p:nvSpPr>
          <p:cNvPr id="20" name="Text 16"/>
          <p:cNvSpPr/>
          <p:nvPr/>
        </p:nvSpPr>
        <p:spPr>
          <a:xfrm>
            <a:off x="6555060" y="4586288"/>
            <a:ext cx="2160315" cy="128588"/>
          </a:xfrm>
          <a:prstGeom prst="rect">
            <a:avLst/>
          </a:prstGeom>
          <a:noFill/>
          <a:ln/>
        </p:spPr>
        <p:txBody>
          <a:bodyPr wrap="none" lIns="0" tIns="0" rIns="0" bIns="0" rtlCol="0" anchor="t">
            <a:spAutoFit/>
          </a:bodyPr>
          <a:lstStyle/>
          <a:p>
            <a:pPr marL="0" indent="0" algn="l">
              <a:lnSpc>
                <a:spcPct val="120000"/>
              </a:lnSpc>
              <a:buNone/>
            </a:pPr>
            <a:r>
              <a:rPr lang="en-US" sz="600" dirty="0">
                <a:solidFill>
                  <a:srgbClr val="8D8D8D"/>
                </a:solidFill>
                <a:latin typeface="IBM Plex Mono" pitchFamily="34" charset="0"/>
                <a:ea typeface="IBM Plex Mono" pitchFamily="34" charset="-122"/>
                <a:cs typeface="IBM Plex Mono" pitchFamily="34" charset="-120"/>
              </a:rPr>
              <a:t>REF: PRODUCT_CONTRACT.MD / ARCHITECTURE.MD</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57150"/>
            <a:ext cx="9144000" cy="5086350"/>
          </a:xfrm>
          <a:prstGeom prst="rect">
            <a:avLst/>
          </a:prstGeom>
        </p:spPr>
      </p:pic>
      <p:sp>
        <p:nvSpPr>
          <p:cNvPr id="4" name="Text 0"/>
          <p:cNvSpPr/>
          <p:nvPr/>
        </p:nvSpPr>
        <p:spPr>
          <a:xfrm>
            <a:off x="350044" y="1143726"/>
            <a:ext cx="8443913" cy="720068"/>
          </a:xfrm>
          <a:prstGeom prst="rect">
            <a:avLst/>
          </a:prstGeom>
          <a:noFill/>
          <a:ln/>
        </p:spPr>
        <p:txBody>
          <a:bodyPr wrap="square" lIns="0" tIns="0" rIns="0" bIns="0" rtlCol="0" anchor="t">
            <a:spAutoFit/>
          </a:bodyPr>
          <a:lstStyle/>
          <a:p>
            <a:pPr marL="0" indent="0" algn="ctr">
              <a:lnSpc>
                <a:spcPct val="84000"/>
              </a:lnSpc>
              <a:buNone/>
            </a:pPr>
            <a:r>
              <a:rPr lang="en-US" sz="2450" b="1" dirty="0">
                <a:solidFill>
                  <a:srgbClr val="F4F4F4"/>
                </a:solidFill>
                <a:latin typeface="IBM Plex Mono Bold" pitchFamily="34" charset="0"/>
                <a:ea typeface="IBM Plex Mono Bold" pitchFamily="34" charset="-122"/>
                <a:cs typeface="IBM Plex Mono Bold" pitchFamily="34" charset="-120"/>
              </a:rPr>
              <a:t>Make every AI dependency claim </a:t>
            </a:r>
            <a:r>
              <a:rPr lang="en-US" sz="2450" b="1" dirty="0">
                <a:solidFill>
                  <a:srgbClr val="0F62FE"/>
                </a:solidFill>
                <a:latin typeface="IBM Plex Mono Bold" pitchFamily="34" charset="0"/>
                <a:ea typeface="IBM Plex Mono Bold" pitchFamily="34" charset="-122"/>
                <a:cs typeface="IBM Plex Mono Bold" pitchFamily="34" charset="-120"/>
              </a:rPr>
              <a:t>reviewable</a:t>
            </a:r>
            <a:r>
              <a:rPr lang="en-US" sz="2450" b="1" dirty="0">
                <a:solidFill>
                  <a:srgbClr val="F4F4F4"/>
                </a:solidFill>
                <a:latin typeface="IBM Plex Mono Bold" pitchFamily="34" charset="0"/>
                <a:ea typeface="IBM Plex Mono Bold" pitchFamily="34" charset="-122"/>
                <a:cs typeface="IBM Plex Mono Bold" pitchFamily="34" charset="-120"/>
              </a:rPr>
              <a:t>.</a:t>
            </a:r>
            <a:endParaRPr lang="en-US" sz="2450" dirty="0"/>
          </a:p>
        </p:txBody>
      </p:sp>
      <p:sp>
        <p:nvSpPr>
          <p:cNvPr id="5" name="Shape 1"/>
          <p:cNvSpPr/>
          <p:nvPr/>
        </p:nvSpPr>
        <p:spPr>
          <a:xfrm>
            <a:off x="1857375" y="2106681"/>
            <a:ext cx="5429250" cy="1421606"/>
          </a:xfrm>
          <a:prstGeom prst="rect">
            <a:avLst/>
          </a:prstGeom>
          <a:solidFill>
            <a:srgbClr val="262626"/>
          </a:solidFill>
          <a:ln w="9144">
            <a:solidFill>
              <a:srgbClr val="393939"/>
            </a:solidFill>
            <a:prstDash val="solid"/>
          </a:ln>
        </p:spPr>
      </p:sp>
      <p:sp>
        <p:nvSpPr>
          <p:cNvPr id="6" name="Text 2"/>
          <p:cNvSpPr/>
          <p:nvPr/>
        </p:nvSpPr>
        <p:spPr>
          <a:xfrm>
            <a:off x="2014538" y="2256699"/>
            <a:ext cx="5114925" cy="114300"/>
          </a:xfrm>
          <a:prstGeom prst="rect">
            <a:avLst/>
          </a:prstGeom>
          <a:noFill/>
          <a:ln/>
        </p:spPr>
        <p:txBody>
          <a:bodyPr wrap="none" lIns="0" tIns="0" rIns="0" bIns="0" rtlCol="0" anchor="t">
            <a:spAutoFit/>
          </a:bodyPr>
          <a:lstStyle/>
          <a:p>
            <a:pPr marL="0" indent="0" algn="l">
              <a:lnSpc>
                <a:spcPct val="116364"/>
              </a:lnSpc>
              <a:buNone/>
            </a:pPr>
            <a:r>
              <a:rPr lang="en-US" sz="550" b="1" kern="0" spc="1" dirty="0">
                <a:solidFill>
                  <a:srgbClr val="8D8D8D"/>
                </a:solidFill>
                <a:latin typeface="IBM Plex Mono Bold" pitchFamily="34" charset="0"/>
                <a:ea typeface="IBM Plex Mono Bold" pitchFamily="34" charset="-122"/>
                <a:cs typeface="IBM Plex Mono Bold" pitchFamily="34" charset="-120"/>
              </a:rPr>
              <a:t>FINAL SUBMISSION ACTIONS</a:t>
            </a:r>
            <a:endParaRPr lang="en-US" sz="550" dirty="0"/>
          </a:p>
        </p:txBody>
      </p:sp>
      <p:sp>
        <p:nvSpPr>
          <p:cNvPr id="7" name="Text 3"/>
          <p:cNvSpPr/>
          <p:nvPr/>
        </p:nvSpPr>
        <p:spPr>
          <a:xfrm>
            <a:off x="2014538" y="2413862"/>
            <a:ext cx="257175" cy="150019"/>
          </a:xfrm>
          <a:prstGeom prst="rect">
            <a:avLst/>
          </a:prstGeom>
          <a:noFill/>
          <a:ln/>
        </p:spPr>
        <p:txBody>
          <a:bodyPr wrap="none" lIns="0" tIns="0" rIns="0" bIns="0" rtlCol="0" anchor="t">
            <a:spAutoFit/>
          </a:bodyPr>
          <a:lstStyle/>
          <a:p>
            <a:pPr marL="0" indent="0" algn="l">
              <a:lnSpc>
                <a:spcPct val="120000"/>
              </a:lnSpc>
              <a:buNone/>
            </a:pPr>
            <a:r>
              <a:rPr lang="en-US" sz="700" b="1" dirty="0">
                <a:solidFill>
                  <a:srgbClr val="0F62FE"/>
                </a:solidFill>
                <a:latin typeface="IBM Plex Mono Bold" pitchFamily="34" charset="0"/>
                <a:ea typeface="IBM Plex Mono Bold" pitchFamily="34" charset="-122"/>
                <a:cs typeface="IBM Plex Mono Bold" pitchFamily="34" charset="-120"/>
              </a:rPr>
              <a:t>[01]</a:t>
            </a:r>
            <a:endParaRPr lang="en-US" sz="700" dirty="0"/>
          </a:p>
        </p:txBody>
      </p:sp>
      <p:sp>
        <p:nvSpPr>
          <p:cNvPr id="8" name="Text 4"/>
          <p:cNvSpPr/>
          <p:nvPr/>
        </p:nvSpPr>
        <p:spPr>
          <a:xfrm>
            <a:off x="2357438" y="2413862"/>
            <a:ext cx="2307431"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EDEDED"/>
                </a:solidFill>
                <a:latin typeface="IBM Plex Mono" pitchFamily="34" charset="0"/>
                <a:ea typeface="IBM Plex Mono" pitchFamily="34" charset="-122"/>
                <a:cs typeface="IBM Plex Mono" pitchFamily="34" charset="-120"/>
              </a:rPr>
              <a:t>Review full repository &amp; evidence logs</a:t>
            </a:r>
            <a:endParaRPr lang="en-US" sz="750" dirty="0"/>
          </a:p>
        </p:txBody>
      </p:sp>
      <p:sp>
        <p:nvSpPr>
          <p:cNvPr id="9" name="Text 5"/>
          <p:cNvSpPr/>
          <p:nvPr/>
        </p:nvSpPr>
        <p:spPr>
          <a:xfrm>
            <a:off x="2014538" y="2678181"/>
            <a:ext cx="257175" cy="150019"/>
          </a:xfrm>
          <a:prstGeom prst="rect">
            <a:avLst/>
          </a:prstGeom>
          <a:noFill/>
          <a:ln/>
        </p:spPr>
        <p:txBody>
          <a:bodyPr wrap="none" lIns="0" tIns="0" rIns="0" bIns="0" rtlCol="0" anchor="t">
            <a:spAutoFit/>
          </a:bodyPr>
          <a:lstStyle/>
          <a:p>
            <a:pPr marL="0" indent="0" algn="l">
              <a:lnSpc>
                <a:spcPct val="120000"/>
              </a:lnSpc>
              <a:buNone/>
            </a:pPr>
            <a:r>
              <a:rPr lang="en-US" sz="700" b="1" dirty="0">
                <a:solidFill>
                  <a:srgbClr val="0F62FE"/>
                </a:solidFill>
                <a:latin typeface="IBM Plex Mono Bold" pitchFamily="34" charset="0"/>
                <a:ea typeface="IBM Plex Mono Bold" pitchFamily="34" charset="-122"/>
                <a:cs typeface="IBM Plex Mono Bold" pitchFamily="34" charset="-120"/>
              </a:rPr>
              <a:t>[02]</a:t>
            </a:r>
            <a:endParaRPr lang="en-US" sz="700" dirty="0"/>
          </a:p>
        </p:txBody>
      </p:sp>
      <p:sp>
        <p:nvSpPr>
          <p:cNvPr id="10" name="Text 6"/>
          <p:cNvSpPr/>
          <p:nvPr/>
        </p:nvSpPr>
        <p:spPr>
          <a:xfrm>
            <a:off x="2357438" y="2678181"/>
            <a:ext cx="2914650"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EDEDED"/>
                </a:solidFill>
                <a:latin typeface="IBM Plex Mono" pitchFamily="34" charset="0"/>
                <a:ea typeface="IBM Plex Mono" pitchFamily="34" charset="-122"/>
                <a:cs typeface="IBM Plex Mono" pitchFamily="34" charset="-120"/>
              </a:rPr>
              <a:t>Verify evaluation corpus metrics (TC-001–TC-012)</a:t>
            </a:r>
            <a:endParaRPr lang="en-US" sz="750" dirty="0"/>
          </a:p>
        </p:txBody>
      </p:sp>
      <p:sp>
        <p:nvSpPr>
          <p:cNvPr id="11" name="Text 7"/>
          <p:cNvSpPr/>
          <p:nvPr/>
        </p:nvSpPr>
        <p:spPr>
          <a:xfrm>
            <a:off x="2014538" y="2942499"/>
            <a:ext cx="257175" cy="150019"/>
          </a:xfrm>
          <a:prstGeom prst="rect">
            <a:avLst/>
          </a:prstGeom>
          <a:noFill/>
          <a:ln/>
        </p:spPr>
        <p:txBody>
          <a:bodyPr wrap="none" lIns="0" tIns="0" rIns="0" bIns="0" rtlCol="0" anchor="t">
            <a:spAutoFit/>
          </a:bodyPr>
          <a:lstStyle/>
          <a:p>
            <a:pPr marL="0" indent="0" algn="l">
              <a:lnSpc>
                <a:spcPct val="120000"/>
              </a:lnSpc>
              <a:buNone/>
            </a:pPr>
            <a:r>
              <a:rPr lang="en-US" sz="700" b="1" dirty="0">
                <a:solidFill>
                  <a:srgbClr val="0F62FE"/>
                </a:solidFill>
                <a:latin typeface="IBM Plex Mono Bold" pitchFamily="34" charset="0"/>
                <a:ea typeface="IBM Plex Mono Bold" pitchFamily="34" charset="-122"/>
                <a:cs typeface="IBM Plex Mono Bold" pitchFamily="34" charset="-120"/>
              </a:rPr>
              <a:t>[03]</a:t>
            </a:r>
            <a:endParaRPr lang="en-US" sz="700" dirty="0"/>
          </a:p>
        </p:txBody>
      </p:sp>
      <p:sp>
        <p:nvSpPr>
          <p:cNvPr id="12" name="Text 8"/>
          <p:cNvSpPr/>
          <p:nvPr/>
        </p:nvSpPr>
        <p:spPr>
          <a:xfrm>
            <a:off x="2357438" y="2942499"/>
            <a:ext cx="3096816"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EDEDED"/>
                </a:solidFill>
                <a:latin typeface="IBM Plex Mono" pitchFamily="34" charset="0"/>
                <a:ea typeface="IBM Plex Mono" pitchFamily="34" charset="-122"/>
                <a:cs typeface="IBM Plex Mono" pitchFamily="34" charset="-120"/>
              </a:rPr>
              <a:t>Authorize final submission to IBM Bob 2.0 Hackathon</a:t>
            </a:r>
            <a:endParaRPr lang="en-US" sz="750" dirty="0"/>
          </a:p>
        </p:txBody>
      </p:sp>
      <p:sp>
        <p:nvSpPr>
          <p:cNvPr id="13" name="Text 9"/>
          <p:cNvSpPr/>
          <p:nvPr/>
        </p:nvSpPr>
        <p:spPr>
          <a:xfrm>
            <a:off x="2014538" y="3178243"/>
            <a:ext cx="5114925" cy="200025"/>
          </a:xfrm>
          <a:prstGeom prst="rect">
            <a:avLst/>
          </a:prstGeom>
          <a:noFill/>
          <a:ln/>
        </p:spPr>
        <p:txBody>
          <a:bodyPr wrap="none" lIns="0" tIns="0" rIns="0" bIns="0" rtlCol="0" anchor="t">
            <a:spAutoFit/>
          </a:bodyPr>
          <a:lstStyle/>
          <a:p>
            <a:pPr marL="0" indent="0" algn="l">
              <a:lnSpc>
                <a:spcPct val="149333"/>
              </a:lnSpc>
              <a:buNone/>
            </a:pPr>
            <a:r>
              <a:rPr lang="en-US" sz="750" b="1" dirty="0">
                <a:solidFill>
                  <a:srgbClr val="FFFFFF"/>
                </a:solidFill>
                <a:latin typeface="IBM Plex Mono Bold" pitchFamily="34" charset="0"/>
                <a:ea typeface="IBM Plex Mono Bold" pitchFamily="34" charset="-122"/>
                <a:cs typeface="IBM Plex Mono Bold" pitchFamily="34" charset="-120"/>
              </a:rPr>
              <a:t>github.com/adishxm/phantomdeps</a:t>
            </a:r>
            <a:endParaRPr lang="en-US" sz="750" dirty="0"/>
          </a:p>
        </p:txBody>
      </p:sp>
      <p:sp>
        <p:nvSpPr>
          <p:cNvPr id="14" name="Text 10"/>
          <p:cNvSpPr/>
          <p:nvPr/>
        </p:nvSpPr>
        <p:spPr>
          <a:xfrm>
            <a:off x="1857375" y="3735456"/>
            <a:ext cx="1039416" cy="142875"/>
          </a:xfrm>
          <a:prstGeom prst="rect">
            <a:avLst/>
          </a:prstGeom>
          <a:noFill/>
          <a:ln/>
        </p:spPr>
        <p:txBody>
          <a:bodyPr wrap="none" lIns="0" tIns="0" rIns="0" bIns="0" rtlCol="0" anchor="t">
            <a:spAutoFit/>
          </a:bodyPr>
          <a:lstStyle/>
          <a:p>
            <a:pPr marL="0" indent="0" algn="ctr">
              <a:lnSpc>
                <a:spcPct val="114286"/>
              </a:lnSpc>
              <a:buNone/>
            </a:pPr>
            <a:r>
              <a:rPr lang="en-US" sz="750" dirty="0">
                <a:solidFill>
                  <a:srgbClr val="BEBEBE"/>
                </a:solidFill>
                <a:latin typeface="Inter" pitchFamily="34" charset="0"/>
                <a:ea typeface="Inter" pitchFamily="34" charset="-122"/>
                <a:cs typeface="Inter" pitchFamily="34" charset="-120"/>
              </a:rPr>
              <a:t>Aditya Kumar Sharma</a:t>
            </a:r>
            <a:endParaRPr lang="en-US" sz="750" dirty="0"/>
          </a:p>
        </p:txBody>
      </p:sp>
      <p:sp>
        <p:nvSpPr>
          <p:cNvPr id="15" name="Text 11"/>
          <p:cNvSpPr/>
          <p:nvPr/>
        </p:nvSpPr>
        <p:spPr>
          <a:xfrm>
            <a:off x="3236119" y="3735456"/>
            <a:ext cx="946547" cy="142875"/>
          </a:xfrm>
          <a:prstGeom prst="rect">
            <a:avLst/>
          </a:prstGeom>
          <a:noFill/>
          <a:ln/>
        </p:spPr>
        <p:txBody>
          <a:bodyPr wrap="none" lIns="0" tIns="0" rIns="0" bIns="0" rtlCol="0" anchor="t">
            <a:spAutoFit/>
          </a:bodyPr>
          <a:lstStyle/>
          <a:p>
            <a:pPr marL="0" indent="0" algn="ctr">
              <a:lnSpc>
                <a:spcPct val="114286"/>
              </a:lnSpc>
              <a:buNone/>
            </a:pPr>
            <a:r>
              <a:rPr lang="en-US" sz="750" dirty="0">
                <a:solidFill>
                  <a:srgbClr val="BEBEBE"/>
                </a:solidFill>
                <a:latin typeface="Inter" pitchFamily="34" charset="0"/>
                <a:ea typeface="Inter" pitchFamily="34" charset="-122"/>
                <a:cs typeface="Inter" pitchFamily="34" charset="-120"/>
              </a:rPr>
              <a:t>Narayan Kumar Jha</a:t>
            </a:r>
            <a:endParaRPr lang="en-US" sz="750" dirty="0"/>
          </a:p>
        </p:txBody>
      </p:sp>
      <p:sp>
        <p:nvSpPr>
          <p:cNvPr id="16" name="Text 12"/>
          <p:cNvSpPr/>
          <p:nvPr/>
        </p:nvSpPr>
        <p:spPr>
          <a:xfrm>
            <a:off x="4614863" y="3735456"/>
            <a:ext cx="692944" cy="142875"/>
          </a:xfrm>
          <a:prstGeom prst="rect">
            <a:avLst/>
          </a:prstGeom>
          <a:noFill/>
          <a:ln/>
        </p:spPr>
        <p:txBody>
          <a:bodyPr wrap="none" lIns="0" tIns="0" rIns="0" bIns="0" rtlCol="0" anchor="t">
            <a:spAutoFit/>
          </a:bodyPr>
          <a:lstStyle/>
          <a:p>
            <a:pPr marL="0" indent="0" algn="ctr">
              <a:lnSpc>
                <a:spcPct val="114286"/>
              </a:lnSpc>
              <a:buNone/>
            </a:pPr>
            <a:r>
              <a:rPr lang="en-US" sz="750" dirty="0">
                <a:solidFill>
                  <a:srgbClr val="BEBEBE"/>
                </a:solidFill>
                <a:latin typeface="Inter" pitchFamily="34" charset="0"/>
                <a:ea typeface="Inter" pitchFamily="34" charset="-122"/>
                <a:cs typeface="Inter" pitchFamily="34" charset="-120"/>
              </a:rPr>
              <a:t>Utkarsh Yadav</a:t>
            </a:r>
            <a:endParaRPr lang="en-US" sz="750" dirty="0"/>
          </a:p>
        </p:txBody>
      </p:sp>
      <p:sp>
        <p:nvSpPr>
          <p:cNvPr id="17" name="Text 13"/>
          <p:cNvSpPr/>
          <p:nvPr/>
        </p:nvSpPr>
        <p:spPr>
          <a:xfrm>
            <a:off x="5993606" y="3735456"/>
            <a:ext cx="657225" cy="142875"/>
          </a:xfrm>
          <a:prstGeom prst="rect">
            <a:avLst/>
          </a:prstGeom>
          <a:noFill/>
          <a:ln/>
        </p:spPr>
        <p:txBody>
          <a:bodyPr wrap="none" lIns="0" tIns="0" rIns="0" bIns="0" rtlCol="0" anchor="t">
            <a:spAutoFit/>
          </a:bodyPr>
          <a:lstStyle/>
          <a:p>
            <a:pPr marL="0" indent="0" algn="ctr">
              <a:lnSpc>
                <a:spcPct val="114286"/>
              </a:lnSpc>
              <a:buNone/>
            </a:pPr>
            <a:r>
              <a:rPr lang="en-US" sz="750" dirty="0">
                <a:solidFill>
                  <a:srgbClr val="BEBEBE"/>
                </a:solidFill>
                <a:latin typeface="Inter" pitchFamily="34" charset="0"/>
                <a:ea typeface="Inter" pitchFamily="34" charset="-122"/>
                <a:cs typeface="Inter" pitchFamily="34" charset="-120"/>
              </a:rPr>
              <a:t>Roshan Singh</a:t>
            </a:r>
            <a:endParaRPr lang="en-US" sz="750" dirty="0"/>
          </a:p>
        </p:txBody>
      </p:sp>
      <p:sp>
        <p:nvSpPr>
          <p:cNvPr id="18" name="Shape 14"/>
          <p:cNvSpPr/>
          <p:nvPr/>
        </p:nvSpPr>
        <p:spPr>
          <a:xfrm>
            <a:off x="7144" y="4907756"/>
            <a:ext cx="9129713" cy="342900"/>
          </a:xfrm>
          <a:prstGeom prst="rect">
            <a:avLst/>
          </a:prstGeom>
          <a:solidFill>
            <a:srgbClr val="000000">
              <a:alpha val="2000"/>
            </a:srgbClr>
          </a:solidFill>
          <a:ln/>
        </p:spPr>
      </p:sp>
      <p:sp>
        <p:nvSpPr>
          <p:cNvPr id="19" name="Shape 15"/>
          <p:cNvSpPr/>
          <p:nvPr/>
        </p:nvSpPr>
        <p:spPr>
          <a:xfrm>
            <a:off x="7144" y="4907756"/>
            <a:ext cx="9129713" cy="7144"/>
          </a:xfrm>
          <a:prstGeom prst="rect">
            <a:avLst/>
          </a:prstGeom>
          <a:solidFill>
            <a:srgbClr val="DBDBDB"/>
          </a:solidFill>
          <a:ln/>
        </p:spPr>
      </p:sp>
      <p:sp>
        <p:nvSpPr>
          <p:cNvPr id="20" name="Text 16"/>
          <p:cNvSpPr/>
          <p:nvPr/>
        </p:nvSpPr>
        <p:spPr>
          <a:xfrm>
            <a:off x="264319" y="5020270"/>
            <a:ext cx="928688" cy="117872"/>
          </a:xfrm>
          <a:prstGeom prst="rect">
            <a:avLst/>
          </a:prstGeom>
          <a:noFill/>
          <a:ln/>
        </p:spPr>
        <p:txBody>
          <a:bodyPr wrap="none" lIns="0" tIns="0" rIns="0" bIns="0" rtlCol="0" anchor="t">
            <a:spAutoFit/>
          </a:bodyPr>
          <a:lstStyle/>
          <a:p>
            <a:pPr marL="0" indent="0" algn="l">
              <a:lnSpc>
                <a:spcPct val="120000"/>
              </a:lnSpc>
              <a:buNone/>
            </a:pPr>
            <a:r>
              <a:rPr lang="en-US" sz="550" dirty="0">
                <a:solidFill>
                  <a:srgbClr val="8D8D8D"/>
                </a:solidFill>
                <a:latin typeface="IBM Plex Mono" pitchFamily="34" charset="0"/>
                <a:ea typeface="IBM Plex Mono" pitchFamily="34" charset="-122"/>
                <a:cs typeface="IBM Plex Mono" pitchFamily="34" charset="-120"/>
              </a:rPr>
              <a:t>[EXIT: v0.1.0-FINAL]</a:t>
            </a:r>
            <a:endParaRPr lang="en-US" sz="550" dirty="0"/>
          </a:p>
        </p:txBody>
      </p:sp>
      <p:sp>
        <p:nvSpPr>
          <p:cNvPr id="21" name="Text 17"/>
          <p:cNvSpPr/>
          <p:nvPr/>
        </p:nvSpPr>
        <p:spPr>
          <a:xfrm>
            <a:off x="7208044" y="5020270"/>
            <a:ext cx="1671638" cy="117872"/>
          </a:xfrm>
          <a:prstGeom prst="rect">
            <a:avLst/>
          </a:prstGeom>
          <a:noFill/>
          <a:ln/>
        </p:spPr>
        <p:txBody>
          <a:bodyPr wrap="none" lIns="0" tIns="0" rIns="0" bIns="0" rtlCol="0" anchor="t">
            <a:spAutoFit/>
          </a:bodyPr>
          <a:lstStyle/>
          <a:p>
            <a:pPr marL="0" indent="0" algn="l">
              <a:lnSpc>
                <a:spcPct val="120000"/>
              </a:lnSpc>
              <a:buNone/>
            </a:pPr>
            <a:r>
              <a:rPr lang="en-US" sz="550" dirty="0">
                <a:solidFill>
                  <a:srgbClr val="8D8D8D"/>
                </a:solidFill>
                <a:latin typeface="IBM Plex Mono" pitchFamily="34" charset="0"/>
                <a:ea typeface="IBM Plex Mono" pitchFamily="34" charset="-122"/>
                <a:cs typeface="IBM Plex Mono" pitchFamily="34" charset="-120"/>
              </a:rPr>
              <a:t>BUILT WITH IBM BOB / MAY 15–17, 2026</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1743</Words>
  <Application>Microsoft Office PowerPoint</Application>
  <PresentationFormat>On-screen Show (16:9)</PresentationFormat>
  <Paragraphs>229</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IBM Plex Mono</vt:lpstr>
      <vt:lpstr>IBM Plex Mono Bold</vt:lpstr>
      <vt:lpstr>IBM Plex Sans SemiBold</vt:lpstr>
      <vt:lpstr>Inter</vt:lpstr>
      <vt:lpstr>Inter SemiBold</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Aditya kumar Sharma</cp:lastModifiedBy>
  <cp:revision>1</cp:revision>
  <dcterms:created xsi:type="dcterms:W3CDTF">2026-09-27T13:40:41Z</dcterms:created>
  <dcterms:modified xsi:type="dcterms:W3CDTF">2026-09-27T14:13:16Z</dcterms:modified>
</cp:coreProperties>
</file>